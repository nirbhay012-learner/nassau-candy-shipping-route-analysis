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JetBrains Mono" panose="020B0604020202020204" charset="0"/>
      <p:regular r:id="rId17"/>
      <p:bold r:id="rId18"/>
      <p:italic r:id="rId19"/>
      <p:boldItalic r:id="rId20"/>
    </p:embeddedFont>
    <p:embeddedFont>
      <p:font typeface="Plus Jakarta Sans" panose="020B0604020202020204" charset="0"/>
      <p:regular r:id="rId21"/>
      <p:bold r:id="rId22"/>
      <p:italic r:id="rId23"/>
      <p:boldItalic r:id="rId24"/>
    </p:embeddedFont>
    <p:embeddedFont>
      <p:font typeface="Trebuchet MS" panose="020B0603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c8416dc9c022866_4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h5c8416dc9c022866_4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5c8416dc9c022866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h5c8416dc9c022866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c8416dc9c022866_4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h5c8416dc9c022866_4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c8416dc9c022866_4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h5c8416dc9c022866_4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5c8416dc9c022866_4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h5c8416dc9c022866_4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5c8416dc9c022866_4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h5c8416dc9c022866_4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5c8416dc9c022866_4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h5c8416dc9c022866_4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5c8416dc9c022866_4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h5c8416dc9c022866_4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5c8416dc9c022866_4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h5c8416dc9c022866_4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5c8416dc9c022866_4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h5c8416dc9c022866_4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5c8416dc9c022866_4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h5c8416dc9c022866_4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5c8416dc9c022866_4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h5c8416dc9c022866_4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5c8416dc9c022866_4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h5c8416dc9c022866_4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5c8416dc9c022866_4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h5c8416dc9c022866_4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0" y="91473"/>
            <a:ext cx="9144000" cy="498665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00050" y="3957638"/>
            <a:ext cx="8343900" cy="778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00050" y="400050"/>
            <a:ext cx="1970336" cy="214313"/>
          </a:xfrm>
          <a:prstGeom prst="roundRect">
            <a:avLst>
              <a:gd name="adj" fmla="val 50000"/>
            </a:avLst>
          </a:prstGeom>
          <a:solidFill>
            <a:srgbClr val="0D1E2D"/>
          </a:solidFill>
          <a:ln w="9525" cap="flat" cmpd="sng">
            <a:solidFill>
              <a:srgbClr val="122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00050" y="4164806"/>
            <a:ext cx="2666962" cy="571500"/>
          </a:xfrm>
          <a:prstGeom prst="roundRect">
            <a:avLst>
              <a:gd name="adj" fmla="val 15000"/>
            </a:avLst>
          </a:prstGeom>
          <a:solidFill>
            <a:srgbClr val="0B0B0F"/>
          </a:solidFill>
          <a:ln w="9525" cap="flat" cmpd="sng">
            <a:solidFill>
              <a:srgbClr val="1C1C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400050" y="3957638"/>
            <a:ext cx="8343900" cy="7144"/>
          </a:xfrm>
          <a:prstGeom prst="rect">
            <a:avLst/>
          </a:prstGeom>
          <a:solidFill>
            <a:srgbClr val="1A1A2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238463" y="4164806"/>
            <a:ext cx="2666963" cy="571500"/>
          </a:xfrm>
          <a:prstGeom prst="roundRect">
            <a:avLst>
              <a:gd name="adj" fmla="val 15000"/>
            </a:avLst>
          </a:prstGeom>
          <a:solidFill>
            <a:srgbClr val="0B0B0F"/>
          </a:solidFill>
          <a:ln w="9525" cap="flat" cmpd="sng">
            <a:solidFill>
              <a:srgbClr val="1C1C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6076875" y="4164806"/>
            <a:ext cx="2666963" cy="571500"/>
          </a:xfrm>
          <a:prstGeom prst="roundRect">
            <a:avLst>
              <a:gd name="adj" fmla="val 15000"/>
            </a:avLst>
          </a:prstGeom>
          <a:solidFill>
            <a:srgbClr val="0B0B0F"/>
          </a:solidFill>
          <a:ln w="9525" cap="flat" cmpd="sng">
            <a:solidFill>
              <a:srgbClr val="1C1C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6729413" y="400050"/>
            <a:ext cx="792956" cy="214313"/>
          </a:xfrm>
          <a:prstGeom prst="rect">
            <a:avLst/>
          </a:prstGeom>
          <a:solidFill>
            <a:srgbClr val="0D1E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593806" y="400050"/>
            <a:ext cx="1150144" cy="214313"/>
          </a:xfrm>
          <a:prstGeom prst="roundRect">
            <a:avLst>
              <a:gd name="adj" fmla="val 20000"/>
            </a:avLst>
          </a:prstGeom>
          <a:solidFill>
            <a:srgbClr val="121217"/>
          </a:solidFill>
          <a:ln w="9525" cap="flat" cmpd="sng">
            <a:solidFill>
              <a:srgbClr val="222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14350" y="442913"/>
            <a:ext cx="1813173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NASSAU CANDY DISTRIBUTOR</a:t>
            </a:r>
            <a:endParaRPr sz="1100"/>
          </a:p>
        </p:txBody>
      </p:sp>
      <p:sp>
        <p:nvSpPr>
          <p:cNvPr id="65" name="Google Shape;65;p13"/>
          <p:cNvSpPr txBox="1"/>
          <p:nvPr/>
        </p:nvSpPr>
        <p:spPr>
          <a:xfrm>
            <a:off x="400050" y="1612367"/>
            <a:ext cx="6975872" cy="85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Factory-to-Customer Shipping Route Efficiency Analysis</a:t>
            </a:r>
            <a:endParaRPr sz="1100" dirty="0"/>
          </a:p>
        </p:txBody>
      </p:sp>
      <p:sp>
        <p:nvSpPr>
          <p:cNvPr id="66" name="Google Shape;66;p13"/>
          <p:cNvSpPr txBox="1"/>
          <p:nvPr/>
        </p:nvSpPr>
        <p:spPr>
          <a:xfrm>
            <a:off x="400050" y="2623877"/>
            <a:ext cx="5500688" cy="40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Logistics Optimization, Bottleneck Identification, and Predictive Cost Modeling</a:t>
            </a:r>
            <a:endParaRPr sz="1100"/>
          </a:p>
        </p:txBody>
      </p:sp>
      <p:sp>
        <p:nvSpPr>
          <p:cNvPr id="67" name="Google Shape;67;p13"/>
          <p:cNvSpPr txBox="1"/>
          <p:nvPr/>
        </p:nvSpPr>
        <p:spPr>
          <a:xfrm>
            <a:off x="6729413" y="400050"/>
            <a:ext cx="864394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 &amp; Analytics</a:t>
            </a:r>
            <a:endParaRPr sz="1100"/>
          </a:p>
        </p:txBody>
      </p:sp>
      <p:sp>
        <p:nvSpPr>
          <p:cNvPr id="68" name="Google Shape;68;p13"/>
          <p:cNvSpPr txBox="1"/>
          <p:nvPr/>
        </p:nvSpPr>
        <p:spPr>
          <a:xfrm>
            <a:off x="7693819" y="442913"/>
            <a:ext cx="1021556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 Dashboard</a:t>
            </a:r>
            <a:endParaRPr sz="1100"/>
          </a:p>
        </p:txBody>
      </p:sp>
      <p:sp>
        <p:nvSpPr>
          <p:cNvPr id="69" name="Google Shape;69;p13"/>
          <p:cNvSpPr txBox="1"/>
          <p:nvPr/>
        </p:nvSpPr>
        <p:spPr>
          <a:xfrm>
            <a:off x="564356" y="4300538"/>
            <a:ext cx="2922938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SCOPE</a:t>
            </a:r>
            <a:endParaRPr sz="1100"/>
          </a:p>
        </p:txBody>
      </p:sp>
      <p:sp>
        <p:nvSpPr>
          <p:cNvPr id="70" name="Google Shape;70;p13"/>
          <p:cNvSpPr txBox="1"/>
          <p:nvPr/>
        </p:nvSpPr>
        <p:spPr>
          <a:xfrm>
            <a:off x="564356" y="4450556"/>
            <a:ext cx="2922938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&amp; Volume Analytics</a:t>
            </a:r>
            <a:endParaRPr sz="1100"/>
          </a:p>
        </p:txBody>
      </p:sp>
      <p:sp>
        <p:nvSpPr>
          <p:cNvPr id="71" name="Google Shape;71;p13"/>
          <p:cNvSpPr txBox="1"/>
          <p:nvPr/>
        </p:nvSpPr>
        <p:spPr>
          <a:xfrm>
            <a:off x="3402769" y="4300538"/>
            <a:ext cx="2922938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ENGINE</a:t>
            </a:r>
            <a:endParaRPr sz="1100"/>
          </a:p>
        </p:txBody>
      </p:sp>
      <p:sp>
        <p:nvSpPr>
          <p:cNvPr id="72" name="Google Shape;72;p13"/>
          <p:cNvSpPr txBox="1"/>
          <p:nvPr/>
        </p:nvSpPr>
        <p:spPr>
          <a:xfrm>
            <a:off x="3402769" y="4450556"/>
            <a:ext cx="2922938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Random Forest Regression</a:t>
            </a:r>
            <a:endParaRPr sz="1100"/>
          </a:p>
        </p:txBody>
      </p:sp>
      <p:sp>
        <p:nvSpPr>
          <p:cNvPr id="73" name="Google Shape;73;p13"/>
          <p:cNvSpPr txBox="1"/>
          <p:nvPr/>
        </p:nvSpPr>
        <p:spPr>
          <a:xfrm>
            <a:off x="6241181" y="4300538"/>
            <a:ext cx="2902818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DELIVERY MECHANISM</a:t>
            </a:r>
            <a:endParaRPr sz="1100"/>
          </a:p>
        </p:txBody>
      </p:sp>
      <p:sp>
        <p:nvSpPr>
          <p:cNvPr id="74" name="Google Shape;74;p13"/>
          <p:cNvSpPr txBox="1"/>
          <p:nvPr/>
        </p:nvSpPr>
        <p:spPr>
          <a:xfrm>
            <a:off x="6241181" y="4450556"/>
            <a:ext cx="2902818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Dashboard</a:t>
            </a:r>
            <a:endParaRPr sz="1100"/>
          </a:p>
        </p:txBody>
      </p:sp>
      <p:sp>
        <p:nvSpPr>
          <p:cNvPr id="75" name="Google Shape;75;p13"/>
          <p:cNvSpPr txBox="1"/>
          <p:nvPr/>
        </p:nvSpPr>
        <p:spPr>
          <a:xfrm>
            <a:off x="273950" y="3296550"/>
            <a:ext cx="58782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highlight>
                  <a:schemeClr val="dk1"/>
                </a:highlight>
                <a:latin typeface="Trebuchet MS"/>
                <a:ea typeface="Trebuchet MS"/>
                <a:cs typeface="Trebuchet MS"/>
                <a:sym typeface="Trebuchet MS"/>
              </a:rPr>
              <a:t>Presented by : NIRBHAY BARANWAL</a:t>
            </a:r>
            <a:endParaRPr sz="2400" b="1">
              <a:solidFill>
                <a:schemeClr val="lt1"/>
              </a:solidFill>
              <a:highlight>
                <a:schemeClr val="dk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850981" y="502853"/>
            <a:ext cx="892969" cy="214313"/>
          </a:xfrm>
          <a:prstGeom prst="roundRect">
            <a:avLst>
              <a:gd name="adj" fmla="val 20000"/>
            </a:avLst>
          </a:prstGeom>
          <a:solidFill>
            <a:srgbClr val="08161D"/>
          </a:solidFill>
          <a:ln w="9525" cap="flat" cmpd="sng">
            <a:solidFill>
              <a:srgbClr val="103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00050" y="945765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629150" y="945765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00050" y="1617278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629150" y="1617278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400050" y="2288790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629150" y="2288790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00050" y="2960303"/>
            <a:ext cx="4114800" cy="557212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4629150" y="2960303"/>
            <a:ext cx="4114800" cy="557212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400050" y="3631815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629150" y="3631815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00050" y="4303327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629150" y="4303327"/>
            <a:ext cx="4114800" cy="557213"/>
          </a:xfrm>
          <a:prstGeom prst="roundRect">
            <a:avLst>
              <a:gd name="adj" fmla="val 12820"/>
            </a:avLst>
          </a:prstGeom>
          <a:solidFill>
            <a:srgbClr val="09090D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50069" y="1067209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779169" y="1067209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50069" y="1738721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779169" y="1738721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50069" y="2410234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79169" y="2410234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50069" y="3081746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779169" y="3081746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50069" y="3753259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779169" y="3753259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50069" y="4424771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779169" y="4424771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0E1B25"/>
          </a:solidFill>
          <a:ln w="9525" cap="flat" cmpd="sng">
            <a:solidFill>
              <a:srgbClr val="1536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950994" y="545715"/>
            <a:ext cx="76438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 Key Modules</a:t>
            </a:r>
            <a:endParaRPr sz="1100"/>
          </a:p>
        </p:txBody>
      </p:sp>
      <p:sp>
        <p:nvSpPr>
          <p:cNvPr id="107" name="Google Shape;107;p14"/>
          <p:cNvSpPr txBox="1"/>
          <p:nvPr/>
        </p:nvSpPr>
        <p:spPr>
          <a:xfrm>
            <a:off x="400050" y="285750"/>
            <a:ext cx="237641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AGENDA</a:t>
            </a:r>
            <a:endParaRPr sz="1100"/>
          </a:p>
        </p:txBody>
      </p:sp>
      <p:sp>
        <p:nvSpPr>
          <p:cNvPr id="108" name="Google Shape;108;p14"/>
          <p:cNvSpPr txBox="1"/>
          <p:nvPr/>
        </p:nvSpPr>
        <p:spPr>
          <a:xfrm>
            <a:off x="400050" y="442913"/>
            <a:ext cx="2495234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Table of Contents</a:t>
            </a:r>
            <a:endParaRPr sz="1100"/>
          </a:p>
        </p:txBody>
      </p:sp>
      <p:sp>
        <p:nvSpPr>
          <p:cNvPr id="109" name="Google Shape;109;p14"/>
          <p:cNvSpPr txBox="1"/>
          <p:nvPr/>
        </p:nvSpPr>
        <p:spPr>
          <a:xfrm>
            <a:off x="442913" y="1067209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sz="1100"/>
          </a:p>
        </p:txBody>
      </p:sp>
      <p:sp>
        <p:nvSpPr>
          <p:cNvPr id="110" name="Google Shape;110;p14"/>
          <p:cNvSpPr txBox="1"/>
          <p:nvPr/>
        </p:nvSpPr>
        <p:spPr>
          <a:xfrm>
            <a:off x="978694" y="1149362"/>
            <a:ext cx="229493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 Chain Problems &amp; Context</a:t>
            </a:r>
            <a:endParaRPr sz="1100"/>
          </a:p>
        </p:txBody>
      </p:sp>
      <p:sp>
        <p:nvSpPr>
          <p:cNvPr id="111" name="Google Shape;111;p14"/>
          <p:cNvSpPr txBox="1"/>
          <p:nvPr/>
        </p:nvSpPr>
        <p:spPr>
          <a:xfrm>
            <a:off x="4672013" y="1067209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sz="1100"/>
          </a:p>
        </p:txBody>
      </p:sp>
      <p:sp>
        <p:nvSpPr>
          <p:cNvPr id="112" name="Google Shape;112;p14"/>
          <p:cNvSpPr txBox="1"/>
          <p:nvPr/>
        </p:nvSpPr>
        <p:spPr>
          <a:xfrm>
            <a:off x="5207794" y="1149362"/>
            <a:ext cx="1910953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Objectives &amp; Scope</a:t>
            </a:r>
            <a:endParaRPr sz="1100"/>
          </a:p>
        </p:txBody>
      </p:sp>
      <p:sp>
        <p:nvSpPr>
          <p:cNvPr id="113" name="Google Shape;113;p14"/>
          <p:cNvSpPr txBox="1"/>
          <p:nvPr/>
        </p:nvSpPr>
        <p:spPr>
          <a:xfrm>
            <a:off x="442913" y="1738721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sz="1100"/>
          </a:p>
        </p:txBody>
      </p:sp>
      <p:sp>
        <p:nvSpPr>
          <p:cNvPr id="114" name="Google Shape;114;p14"/>
          <p:cNvSpPr txBox="1"/>
          <p:nvPr/>
        </p:nvSpPr>
        <p:spPr>
          <a:xfrm>
            <a:off x="978694" y="1820875"/>
            <a:ext cx="2160984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Architecture &amp; Hygiene</a:t>
            </a:r>
            <a:endParaRPr sz="1100"/>
          </a:p>
        </p:txBody>
      </p:sp>
      <p:sp>
        <p:nvSpPr>
          <p:cNvPr id="115" name="Google Shape;115;p14"/>
          <p:cNvSpPr txBox="1"/>
          <p:nvPr/>
        </p:nvSpPr>
        <p:spPr>
          <a:xfrm>
            <a:off x="4672013" y="1738721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sz="1100"/>
          </a:p>
        </p:txBody>
      </p:sp>
      <p:sp>
        <p:nvSpPr>
          <p:cNvPr id="116" name="Google Shape;116;p14"/>
          <p:cNvSpPr txBox="1"/>
          <p:nvPr/>
        </p:nvSpPr>
        <p:spPr>
          <a:xfrm>
            <a:off x="5207794" y="1820875"/>
            <a:ext cx="2214563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Factory &amp; Route Volume Analysis</a:t>
            </a:r>
            <a:endParaRPr sz="1100"/>
          </a:p>
        </p:txBody>
      </p:sp>
      <p:sp>
        <p:nvSpPr>
          <p:cNvPr id="117" name="Google Shape;117;p14"/>
          <p:cNvSpPr txBox="1"/>
          <p:nvPr/>
        </p:nvSpPr>
        <p:spPr>
          <a:xfrm>
            <a:off x="442913" y="2410234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sz="1100"/>
          </a:p>
        </p:txBody>
      </p:sp>
      <p:sp>
        <p:nvSpPr>
          <p:cNvPr id="118" name="Google Shape;118;p14"/>
          <p:cNvSpPr txBox="1"/>
          <p:nvPr/>
        </p:nvSpPr>
        <p:spPr>
          <a:xfrm>
            <a:off x="978694" y="2492387"/>
            <a:ext cx="2259211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Shipping Mode Mix &amp; Distribution</a:t>
            </a:r>
            <a:endParaRPr sz="1100"/>
          </a:p>
        </p:txBody>
      </p:sp>
      <p:sp>
        <p:nvSpPr>
          <p:cNvPr id="119" name="Google Shape;119;p14"/>
          <p:cNvSpPr txBox="1"/>
          <p:nvPr/>
        </p:nvSpPr>
        <p:spPr>
          <a:xfrm>
            <a:off x="4672013" y="2410234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sz="1100"/>
          </a:p>
        </p:txBody>
      </p:sp>
      <p:sp>
        <p:nvSpPr>
          <p:cNvPr id="120" name="Google Shape;120;p14"/>
          <p:cNvSpPr txBox="1"/>
          <p:nvPr/>
        </p:nvSpPr>
        <p:spPr>
          <a:xfrm>
            <a:off x="5207794" y="2492387"/>
            <a:ext cx="226814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Business &amp; Financial Metrics</a:t>
            </a:r>
            <a:endParaRPr sz="1100"/>
          </a:p>
        </p:txBody>
      </p:sp>
      <p:sp>
        <p:nvSpPr>
          <p:cNvPr id="121" name="Google Shape;121;p14"/>
          <p:cNvSpPr txBox="1"/>
          <p:nvPr/>
        </p:nvSpPr>
        <p:spPr>
          <a:xfrm>
            <a:off x="442913" y="3081746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sz="1100"/>
          </a:p>
        </p:txBody>
      </p:sp>
      <p:sp>
        <p:nvSpPr>
          <p:cNvPr id="122" name="Google Shape;122;p14"/>
          <p:cNvSpPr txBox="1"/>
          <p:nvPr/>
        </p:nvSpPr>
        <p:spPr>
          <a:xfrm>
            <a:off x="978694" y="3163900"/>
            <a:ext cx="1562695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 Cost Pipeline Cycle</a:t>
            </a:r>
            <a:endParaRPr sz="1100"/>
          </a:p>
        </p:txBody>
      </p:sp>
      <p:sp>
        <p:nvSpPr>
          <p:cNvPr id="123" name="Google Shape;123;p14"/>
          <p:cNvSpPr txBox="1"/>
          <p:nvPr/>
        </p:nvSpPr>
        <p:spPr>
          <a:xfrm>
            <a:off x="4672013" y="3081746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sz="1100"/>
          </a:p>
        </p:txBody>
      </p:sp>
      <p:sp>
        <p:nvSpPr>
          <p:cNvPr id="124" name="Google Shape;124;p14"/>
          <p:cNvSpPr txBox="1"/>
          <p:nvPr/>
        </p:nvSpPr>
        <p:spPr>
          <a:xfrm>
            <a:off x="5207794" y="3163900"/>
            <a:ext cx="2098476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Performance Evaluation</a:t>
            </a:r>
            <a:endParaRPr sz="1100"/>
          </a:p>
        </p:txBody>
      </p:sp>
      <p:sp>
        <p:nvSpPr>
          <p:cNvPr id="125" name="Google Shape;125;p14"/>
          <p:cNvSpPr txBox="1"/>
          <p:nvPr/>
        </p:nvSpPr>
        <p:spPr>
          <a:xfrm>
            <a:off x="442913" y="3753259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 sz="1100"/>
          </a:p>
        </p:txBody>
      </p:sp>
      <p:sp>
        <p:nvSpPr>
          <p:cNvPr id="126" name="Google Shape;126;p14"/>
          <p:cNvSpPr txBox="1"/>
          <p:nvPr/>
        </p:nvSpPr>
        <p:spPr>
          <a:xfrm>
            <a:off x="978694" y="3835412"/>
            <a:ext cx="2339578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Sensitivity &amp; Mode Testing</a:t>
            </a:r>
            <a:endParaRPr sz="1100"/>
          </a:p>
        </p:txBody>
      </p:sp>
      <p:sp>
        <p:nvSpPr>
          <p:cNvPr id="127" name="Google Shape;127;p14"/>
          <p:cNvSpPr txBox="1"/>
          <p:nvPr/>
        </p:nvSpPr>
        <p:spPr>
          <a:xfrm>
            <a:off x="4672013" y="3753259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sz="1100"/>
          </a:p>
        </p:txBody>
      </p:sp>
      <p:sp>
        <p:nvSpPr>
          <p:cNvPr id="128" name="Google Shape;128;p14"/>
          <p:cNvSpPr txBox="1"/>
          <p:nvPr/>
        </p:nvSpPr>
        <p:spPr>
          <a:xfrm>
            <a:off x="5207794" y="3835412"/>
            <a:ext cx="2303859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 Dashboard Architecture</a:t>
            </a:r>
            <a:endParaRPr sz="1100"/>
          </a:p>
        </p:txBody>
      </p:sp>
      <p:sp>
        <p:nvSpPr>
          <p:cNvPr id="129" name="Google Shape;129;p14"/>
          <p:cNvSpPr txBox="1"/>
          <p:nvPr/>
        </p:nvSpPr>
        <p:spPr>
          <a:xfrm>
            <a:off x="442913" y="4424771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sz="1100"/>
          </a:p>
        </p:txBody>
      </p:sp>
      <p:sp>
        <p:nvSpPr>
          <p:cNvPr id="130" name="Google Shape;130;p14"/>
          <p:cNvSpPr txBox="1"/>
          <p:nvPr/>
        </p:nvSpPr>
        <p:spPr>
          <a:xfrm>
            <a:off x="978694" y="4506925"/>
            <a:ext cx="2098476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Roadmap &amp; Milestones</a:t>
            </a:r>
            <a:endParaRPr sz="1100"/>
          </a:p>
        </p:txBody>
      </p:sp>
      <p:sp>
        <p:nvSpPr>
          <p:cNvPr id="131" name="Google Shape;131;p14"/>
          <p:cNvSpPr txBox="1"/>
          <p:nvPr/>
        </p:nvSpPr>
        <p:spPr>
          <a:xfrm>
            <a:off x="4672013" y="4424771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sz="1100"/>
          </a:p>
        </p:txBody>
      </p:sp>
      <p:sp>
        <p:nvSpPr>
          <p:cNvPr id="132" name="Google Shape;132;p14"/>
          <p:cNvSpPr txBox="1"/>
          <p:nvPr/>
        </p:nvSpPr>
        <p:spPr>
          <a:xfrm>
            <a:off x="5207794" y="4506925"/>
            <a:ext cx="2160984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Quality &amp; Key Deliverables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7579519" y="502853"/>
            <a:ext cx="1164431" cy="214313"/>
          </a:xfrm>
          <a:prstGeom prst="roundRect">
            <a:avLst>
              <a:gd name="adj" fmla="val 20000"/>
            </a:avLst>
          </a:prstGeom>
          <a:solidFill>
            <a:srgbClr val="121217"/>
          </a:solidFill>
          <a:ln w="9525" cap="flat" cmpd="sng">
            <a:solidFill>
              <a:srgbClr val="222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00050" y="1672976"/>
            <a:ext cx="8343900" cy="721519"/>
          </a:xfrm>
          <a:prstGeom prst="roundRect">
            <a:avLst>
              <a:gd name="adj" fmla="val 13861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400050" y="2523082"/>
            <a:ext cx="8343900" cy="721519"/>
          </a:xfrm>
          <a:prstGeom prst="roundRect">
            <a:avLst>
              <a:gd name="adj" fmla="val 13861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400050" y="3373189"/>
            <a:ext cx="8343900" cy="721519"/>
          </a:xfrm>
          <a:prstGeom prst="roundRect">
            <a:avLst>
              <a:gd name="adj" fmla="val 13861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14363" y="1876574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231215"/>
          </a:solidFill>
          <a:ln w="9525" cap="flat" cmpd="sng">
            <a:solidFill>
              <a:srgbClr val="501D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400050" y="2387351"/>
            <a:ext cx="834390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400050" y="1672976"/>
            <a:ext cx="834390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00050" y="1672976"/>
            <a:ext cx="28575" cy="7215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8736806" y="1672976"/>
            <a:ext cx="7144" cy="721519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614363" y="2726680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231B10"/>
          </a:solidFill>
          <a:ln w="9525" cap="flat" cmpd="sng">
            <a:solidFill>
              <a:srgbClr val="5238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400050" y="3237457"/>
            <a:ext cx="834390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00050" y="2523082"/>
            <a:ext cx="834390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00050" y="2523082"/>
            <a:ext cx="28575" cy="721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8736806" y="2523082"/>
            <a:ext cx="7144" cy="721519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614363" y="3576786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101E27"/>
          </a:solidFill>
          <a:ln w="9525" cap="flat" cmpd="sng">
            <a:solidFill>
              <a:srgbClr val="1738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00050" y="4087564"/>
            <a:ext cx="834390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00050" y="3373189"/>
            <a:ext cx="834390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00050" y="3373189"/>
            <a:ext cx="28575" cy="72151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736806" y="3373189"/>
            <a:ext cx="7144" cy="721519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679531" y="545715"/>
            <a:ext cx="103584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 Chain Friction</a:t>
            </a:r>
            <a:endParaRPr sz="1100"/>
          </a:p>
        </p:txBody>
      </p:sp>
      <p:sp>
        <p:nvSpPr>
          <p:cNvPr id="158" name="Google Shape;158;p15"/>
          <p:cNvSpPr txBox="1"/>
          <p:nvPr/>
        </p:nvSpPr>
        <p:spPr>
          <a:xfrm>
            <a:off x="400050" y="285750"/>
            <a:ext cx="4111703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BOTTLENECKS</a:t>
            </a:r>
            <a:endParaRPr sz="1100"/>
          </a:p>
        </p:txBody>
      </p:sp>
      <p:sp>
        <p:nvSpPr>
          <p:cNvPr id="159" name="Google Shape;159;p15"/>
          <p:cNvSpPr txBox="1"/>
          <p:nvPr/>
        </p:nvSpPr>
        <p:spPr>
          <a:xfrm>
            <a:off x="400050" y="442913"/>
            <a:ext cx="4317287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Understanding the Problems</a:t>
            </a:r>
            <a:endParaRPr sz="1100"/>
          </a:p>
        </p:txBody>
      </p:sp>
      <p:sp>
        <p:nvSpPr>
          <p:cNvPr id="160" name="Google Shape;160;p15"/>
          <p:cNvSpPr txBox="1"/>
          <p:nvPr/>
        </p:nvSpPr>
        <p:spPr>
          <a:xfrm>
            <a:off x="507206" y="1876574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sz="1100"/>
          </a:p>
        </p:txBody>
      </p:sp>
      <p:sp>
        <p:nvSpPr>
          <p:cNvPr id="161" name="Google Shape;161;p15"/>
          <p:cNvSpPr txBox="1"/>
          <p:nvPr/>
        </p:nvSpPr>
        <p:spPr>
          <a:xfrm>
            <a:off x="507206" y="2726680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sz="1100"/>
          </a:p>
        </p:txBody>
      </p:sp>
      <p:sp>
        <p:nvSpPr>
          <p:cNvPr id="162" name="Google Shape;162;p15"/>
          <p:cNvSpPr txBox="1"/>
          <p:nvPr/>
        </p:nvSpPr>
        <p:spPr>
          <a:xfrm>
            <a:off x="507206" y="3576786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sz="1100"/>
          </a:p>
        </p:txBody>
      </p:sp>
      <p:sp>
        <p:nvSpPr>
          <p:cNvPr id="163" name="Google Shape;163;p15"/>
          <p:cNvSpPr txBox="1"/>
          <p:nvPr/>
        </p:nvSpPr>
        <p:spPr>
          <a:xfrm>
            <a:off x="1100138" y="1865857"/>
            <a:ext cx="80438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Congestion &amp; Unbalanced Logistics</a:t>
            </a:r>
            <a:endParaRPr sz="1100"/>
          </a:p>
        </p:txBody>
      </p:sp>
      <p:sp>
        <p:nvSpPr>
          <p:cNvPr id="164" name="Google Shape;164;p15"/>
          <p:cNvSpPr txBox="1"/>
          <p:nvPr/>
        </p:nvSpPr>
        <p:spPr>
          <a:xfrm>
            <a:off x="1100138" y="2065882"/>
            <a:ext cx="8043863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concentration of shipments along single primary corridors creates localized transit delays and regional carrier dependencies.</a:t>
            </a:r>
            <a:endParaRPr sz="1100"/>
          </a:p>
        </p:txBody>
      </p:sp>
      <p:sp>
        <p:nvSpPr>
          <p:cNvPr id="165" name="Google Shape;165;p15"/>
          <p:cNvSpPr txBox="1"/>
          <p:nvPr/>
        </p:nvSpPr>
        <p:spPr>
          <a:xfrm>
            <a:off x="1100138" y="2715964"/>
            <a:ext cx="80438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Opacity Across Shipping Classes</a:t>
            </a:r>
            <a:endParaRPr sz="1100"/>
          </a:p>
        </p:txBody>
      </p:sp>
      <p:sp>
        <p:nvSpPr>
          <p:cNvPr id="166" name="Google Shape;166;p15"/>
          <p:cNvSpPr txBox="1"/>
          <p:nvPr/>
        </p:nvSpPr>
        <p:spPr>
          <a:xfrm>
            <a:off x="1100138" y="2915989"/>
            <a:ext cx="8043863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Lack of predictive visibility into line-item freight expenditure leads to suboptimal shipping mode selection and unmodeled margin erosion.</a:t>
            </a:r>
            <a:endParaRPr sz="1100"/>
          </a:p>
        </p:txBody>
      </p:sp>
      <p:sp>
        <p:nvSpPr>
          <p:cNvPr id="167" name="Google Shape;167;p15"/>
          <p:cNvSpPr txBox="1"/>
          <p:nvPr/>
        </p:nvSpPr>
        <p:spPr>
          <a:xfrm>
            <a:off x="1100138" y="3566070"/>
            <a:ext cx="804386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Analytics &amp; Reporting Lag</a:t>
            </a:r>
            <a:endParaRPr sz="1100"/>
          </a:p>
        </p:txBody>
      </p:sp>
      <p:sp>
        <p:nvSpPr>
          <p:cNvPr id="168" name="Google Shape;168;p15"/>
          <p:cNvSpPr txBox="1"/>
          <p:nvPr/>
        </p:nvSpPr>
        <p:spPr>
          <a:xfrm>
            <a:off x="1100138" y="3766095"/>
            <a:ext cx="8043863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Legacy offline reporting hinders operational teams from executing real-time cost estimation and dynamic dispatch decision-making.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8101013" y="502853"/>
            <a:ext cx="642938" cy="214313"/>
          </a:xfrm>
          <a:prstGeom prst="roundRect">
            <a:avLst>
              <a:gd name="adj" fmla="val 20000"/>
            </a:avLst>
          </a:prstGeom>
          <a:solidFill>
            <a:srgbClr val="08161D"/>
          </a:solidFill>
          <a:ln w="9525" cap="flat" cmpd="sng">
            <a:solidFill>
              <a:srgbClr val="103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00050" y="1898005"/>
            <a:ext cx="4100513" cy="914400"/>
          </a:xfrm>
          <a:prstGeom prst="roundRect">
            <a:avLst>
              <a:gd name="adj" fmla="val 10937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643438" y="1898005"/>
            <a:ext cx="4100513" cy="914400"/>
          </a:xfrm>
          <a:prstGeom prst="roundRect">
            <a:avLst>
              <a:gd name="adj" fmla="val 10937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00050" y="2955280"/>
            <a:ext cx="4100513" cy="914400"/>
          </a:xfrm>
          <a:prstGeom prst="roundRect">
            <a:avLst>
              <a:gd name="adj" fmla="val 10937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643438" y="2955280"/>
            <a:ext cx="4100513" cy="914400"/>
          </a:xfrm>
          <a:prstGeom prst="roundRect">
            <a:avLst>
              <a:gd name="adj" fmla="val 10937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931" y="209088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6319" y="209088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931" y="314816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6319" y="314816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2944" y="219089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6331" y="219089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2944" y="324817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25615" y="3248174"/>
            <a:ext cx="16430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8201025" y="545715"/>
            <a:ext cx="514350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Overview</a:t>
            </a:r>
            <a:endParaRPr sz="1100"/>
          </a:p>
        </p:txBody>
      </p:sp>
      <p:sp>
        <p:nvSpPr>
          <p:cNvPr id="188" name="Google Shape;188;p16"/>
          <p:cNvSpPr txBox="1"/>
          <p:nvPr/>
        </p:nvSpPr>
        <p:spPr>
          <a:xfrm>
            <a:off x="400050" y="285750"/>
            <a:ext cx="4243136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ALIGNMENT</a:t>
            </a:r>
            <a:endParaRPr sz="1100"/>
          </a:p>
        </p:txBody>
      </p:sp>
      <p:sp>
        <p:nvSpPr>
          <p:cNvPr id="189" name="Google Shape;189;p16"/>
          <p:cNvSpPr txBox="1"/>
          <p:nvPr/>
        </p:nvSpPr>
        <p:spPr>
          <a:xfrm>
            <a:off x="400050" y="442913"/>
            <a:ext cx="4455292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Executive Project Objectives</a:t>
            </a:r>
            <a:endParaRPr sz="1100"/>
          </a:p>
        </p:txBody>
      </p:sp>
      <p:sp>
        <p:nvSpPr>
          <p:cNvPr id="190" name="Google Shape;190;p16"/>
          <p:cNvSpPr txBox="1"/>
          <p:nvPr/>
        </p:nvSpPr>
        <p:spPr>
          <a:xfrm>
            <a:off x="1078706" y="2090886"/>
            <a:ext cx="42380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Shipment Patterns</a:t>
            </a:r>
            <a:endParaRPr sz="1100"/>
          </a:p>
        </p:txBody>
      </p:sp>
      <p:sp>
        <p:nvSpPr>
          <p:cNvPr id="191" name="Google Shape;191;p16"/>
          <p:cNvSpPr txBox="1"/>
          <p:nvPr/>
        </p:nvSpPr>
        <p:spPr>
          <a:xfrm>
            <a:off x="1078706" y="2319486"/>
            <a:ext cx="3300413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 factory-to-customer order distribution and volume flow.</a:t>
            </a:r>
            <a:endParaRPr sz="1100"/>
          </a:p>
        </p:txBody>
      </p:sp>
      <p:sp>
        <p:nvSpPr>
          <p:cNvPr id="192" name="Google Shape;192;p16"/>
          <p:cNvSpPr txBox="1"/>
          <p:nvPr/>
        </p:nvSpPr>
        <p:spPr>
          <a:xfrm>
            <a:off x="5322094" y="2090886"/>
            <a:ext cx="3821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Bottlenecks</a:t>
            </a:r>
            <a:endParaRPr sz="1100"/>
          </a:p>
        </p:txBody>
      </p:sp>
      <p:sp>
        <p:nvSpPr>
          <p:cNvPr id="193" name="Google Shape;193;p16"/>
          <p:cNvSpPr txBox="1"/>
          <p:nvPr/>
        </p:nvSpPr>
        <p:spPr>
          <a:xfrm>
            <a:off x="5322094" y="2319486"/>
            <a:ext cx="3300413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Identify destination volume bottlenecks and transit friction points.</a:t>
            </a:r>
            <a:endParaRPr sz="1100"/>
          </a:p>
        </p:txBody>
      </p:sp>
      <p:sp>
        <p:nvSpPr>
          <p:cNvPr id="194" name="Google Shape;194;p16"/>
          <p:cNvSpPr txBox="1"/>
          <p:nvPr/>
        </p:nvSpPr>
        <p:spPr>
          <a:xfrm>
            <a:off x="1078706" y="3148161"/>
            <a:ext cx="41630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Modeling</a:t>
            </a:r>
            <a:endParaRPr sz="1100"/>
          </a:p>
        </p:txBody>
      </p:sp>
      <p:sp>
        <p:nvSpPr>
          <p:cNvPr id="195" name="Google Shape;195;p16"/>
          <p:cNvSpPr txBox="1"/>
          <p:nvPr/>
        </p:nvSpPr>
        <p:spPr>
          <a:xfrm>
            <a:off x="1078706" y="3376761"/>
            <a:ext cx="3964781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 high-precision Random Forest cost predictor engine.</a:t>
            </a:r>
            <a:endParaRPr sz="1100"/>
          </a:p>
        </p:txBody>
      </p:sp>
      <p:sp>
        <p:nvSpPr>
          <p:cNvPr id="196" name="Google Shape;196;p16"/>
          <p:cNvSpPr txBox="1"/>
          <p:nvPr/>
        </p:nvSpPr>
        <p:spPr>
          <a:xfrm>
            <a:off x="5322094" y="3148161"/>
            <a:ext cx="3821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App</a:t>
            </a:r>
            <a:endParaRPr sz="1100"/>
          </a:p>
        </p:txBody>
      </p:sp>
      <p:sp>
        <p:nvSpPr>
          <p:cNvPr id="197" name="Google Shape;197;p16"/>
          <p:cNvSpPr txBox="1"/>
          <p:nvPr/>
        </p:nvSpPr>
        <p:spPr>
          <a:xfrm>
            <a:off x="5322094" y="3376761"/>
            <a:ext cx="3300413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real-time Streamlit dashboard for stakeholder decision-making.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7850981" y="502853"/>
            <a:ext cx="892969" cy="214313"/>
          </a:xfrm>
          <a:prstGeom prst="roundRect">
            <a:avLst>
              <a:gd name="adj" fmla="val 20000"/>
            </a:avLst>
          </a:prstGeom>
          <a:solidFill>
            <a:srgbClr val="121217"/>
          </a:solidFill>
          <a:ln w="9525" cap="flat" cmpd="sng">
            <a:solidFill>
              <a:srgbClr val="222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3952056" y="1919436"/>
            <a:ext cx="4791893" cy="1928813"/>
          </a:xfrm>
          <a:prstGeom prst="roundRect">
            <a:avLst>
              <a:gd name="adj" fmla="val 5185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400050" y="1863737"/>
            <a:ext cx="3323406" cy="955811"/>
          </a:xfrm>
          <a:prstGeom prst="roundRect">
            <a:avLst>
              <a:gd name="adj" fmla="val 10463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400050" y="2948136"/>
            <a:ext cx="3323406" cy="955811"/>
          </a:xfrm>
          <a:prstGeom prst="roundRect">
            <a:avLst>
              <a:gd name="adj" fmla="val 10463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00050" y="2812405"/>
            <a:ext cx="3323406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00050" y="1863737"/>
            <a:ext cx="3323406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400050" y="1863737"/>
            <a:ext cx="28575" cy="95581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3716312" y="1863737"/>
            <a:ext cx="7144" cy="955811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400050" y="3896804"/>
            <a:ext cx="3323406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400050" y="2948136"/>
            <a:ext cx="3323406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400050" y="2948136"/>
            <a:ext cx="28575" cy="955811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3716312" y="2948136"/>
            <a:ext cx="7144" cy="955811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7800" y="2498080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7800" y="2919561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7800" y="334104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/>
        </p:nvSpPr>
        <p:spPr>
          <a:xfrm>
            <a:off x="7950994" y="545715"/>
            <a:ext cx="76438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10,194 Records</a:t>
            </a:r>
            <a:endParaRPr sz="1100"/>
          </a:p>
        </p:txBody>
      </p:sp>
      <p:sp>
        <p:nvSpPr>
          <p:cNvPr id="219" name="Google Shape;219;p17"/>
          <p:cNvSpPr txBox="1"/>
          <p:nvPr/>
        </p:nvSpPr>
        <p:spPr>
          <a:xfrm>
            <a:off x="400050" y="285750"/>
            <a:ext cx="507499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HYGIENE &amp; STRUCTURING</a:t>
            </a:r>
            <a:endParaRPr sz="1100"/>
          </a:p>
        </p:txBody>
      </p:sp>
      <p:sp>
        <p:nvSpPr>
          <p:cNvPr id="220" name="Google Shape;220;p17"/>
          <p:cNvSpPr txBox="1"/>
          <p:nvPr/>
        </p:nvSpPr>
        <p:spPr>
          <a:xfrm>
            <a:off x="400050" y="442913"/>
            <a:ext cx="5328742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Dataset Architecture &amp; Preparation</a:t>
            </a:r>
            <a:endParaRPr sz="1100"/>
          </a:p>
        </p:txBody>
      </p:sp>
      <p:sp>
        <p:nvSpPr>
          <p:cNvPr id="221" name="Google Shape;221;p17"/>
          <p:cNvSpPr txBox="1"/>
          <p:nvPr/>
        </p:nvSpPr>
        <p:spPr>
          <a:xfrm>
            <a:off x="4187800" y="2155180"/>
            <a:ext cx="4956199" cy="17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Data Ingestion Rules</a:t>
            </a:r>
            <a:endParaRPr sz="1100"/>
          </a:p>
        </p:txBody>
      </p:sp>
      <p:sp>
        <p:nvSpPr>
          <p:cNvPr id="222" name="Google Shape;222;p17"/>
          <p:cNvSpPr txBox="1"/>
          <p:nvPr/>
        </p:nvSpPr>
        <p:spPr>
          <a:xfrm>
            <a:off x="614363" y="2056619"/>
            <a:ext cx="3645266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RECORD COUNT</a:t>
            </a:r>
            <a:endParaRPr sz="1100"/>
          </a:p>
        </p:txBody>
      </p:sp>
      <p:sp>
        <p:nvSpPr>
          <p:cNvPr id="223" name="Google Shape;223;p17"/>
          <p:cNvSpPr txBox="1"/>
          <p:nvPr/>
        </p:nvSpPr>
        <p:spPr>
          <a:xfrm>
            <a:off x="614363" y="2163775"/>
            <a:ext cx="3645266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10,194</a:t>
            </a:r>
            <a:endParaRPr sz="1100"/>
          </a:p>
        </p:txBody>
      </p:sp>
      <p:sp>
        <p:nvSpPr>
          <p:cNvPr id="224" name="Google Shape;224;p17"/>
          <p:cNvSpPr txBox="1"/>
          <p:nvPr/>
        </p:nvSpPr>
        <p:spPr>
          <a:xfrm>
            <a:off x="614363" y="2490936"/>
            <a:ext cx="3645266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shipment and order records ingested.</a:t>
            </a:r>
            <a:endParaRPr sz="1100"/>
          </a:p>
        </p:txBody>
      </p:sp>
      <p:sp>
        <p:nvSpPr>
          <p:cNvPr id="225" name="Google Shape;225;p17"/>
          <p:cNvSpPr txBox="1"/>
          <p:nvPr/>
        </p:nvSpPr>
        <p:spPr>
          <a:xfrm>
            <a:off x="614363" y="3141017"/>
            <a:ext cx="3645266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SPECS</a:t>
            </a:r>
            <a:endParaRPr sz="1100"/>
          </a:p>
        </p:txBody>
      </p:sp>
      <p:sp>
        <p:nvSpPr>
          <p:cNvPr id="226" name="Google Shape;226;p17"/>
          <p:cNvSpPr txBox="1"/>
          <p:nvPr/>
        </p:nvSpPr>
        <p:spPr>
          <a:xfrm>
            <a:off x="614363" y="3248174"/>
            <a:ext cx="3645266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 Fields</a:t>
            </a:r>
            <a:endParaRPr sz="1100"/>
          </a:p>
        </p:txBody>
      </p:sp>
      <p:sp>
        <p:nvSpPr>
          <p:cNvPr id="227" name="Google Shape;227;p17"/>
          <p:cNvSpPr txBox="1"/>
          <p:nvPr/>
        </p:nvSpPr>
        <p:spPr>
          <a:xfrm>
            <a:off x="614363" y="3575335"/>
            <a:ext cx="3645266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missing values in target schema.</a:t>
            </a:r>
            <a:endParaRPr sz="1100"/>
          </a:p>
        </p:txBody>
      </p:sp>
      <p:sp>
        <p:nvSpPr>
          <p:cNvPr id="228" name="Google Shape;228;p17"/>
          <p:cNvSpPr txBox="1"/>
          <p:nvPr/>
        </p:nvSpPr>
        <p:spPr>
          <a:xfrm>
            <a:off x="4416400" y="2476649"/>
            <a:ext cx="369689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Date Formatting</a:t>
            </a:r>
            <a:endParaRPr sz="1100"/>
          </a:p>
        </p:txBody>
      </p:sp>
      <p:sp>
        <p:nvSpPr>
          <p:cNvPr id="229" name="Google Shape;229;p17"/>
          <p:cNvSpPr txBox="1"/>
          <p:nvPr/>
        </p:nvSpPr>
        <p:spPr>
          <a:xfrm>
            <a:off x="4416400" y="2633811"/>
            <a:ext cx="3696890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Standardized DD-MM-YYYY parsing across temporal logs.</a:t>
            </a:r>
            <a:endParaRPr sz="1100"/>
          </a:p>
        </p:txBody>
      </p:sp>
      <p:sp>
        <p:nvSpPr>
          <p:cNvPr id="230" name="Google Shape;230;p17"/>
          <p:cNvSpPr txBox="1"/>
          <p:nvPr/>
        </p:nvSpPr>
        <p:spPr>
          <a:xfrm>
            <a:off x="4416400" y="2898130"/>
            <a:ext cx="315218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 Time Metric</a:t>
            </a:r>
            <a:endParaRPr sz="1100"/>
          </a:p>
        </p:txBody>
      </p:sp>
      <p:sp>
        <p:nvSpPr>
          <p:cNvPr id="231" name="Google Shape;231;p17"/>
          <p:cNvSpPr txBox="1"/>
          <p:nvPr/>
        </p:nvSpPr>
        <p:spPr>
          <a:xfrm>
            <a:off x="4416400" y="3055292"/>
            <a:ext cx="3152180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Derived dynamically from Ship Date − Order Date.</a:t>
            </a:r>
            <a:endParaRPr sz="1100"/>
          </a:p>
        </p:txBody>
      </p:sp>
      <p:sp>
        <p:nvSpPr>
          <p:cNvPr id="232" name="Google Shape;232;p17"/>
          <p:cNvSpPr txBox="1"/>
          <p:nvPr/>
        </p:nvSpPr>
        <p:spPr>
          <a:xfrm>
            <a:off x="4416400" y="3319611"/>
            <a:ext cx="396478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Integrity Preservation</a:t>
            </a:r>
            <a:endParaRPr sz="1100"/>
          </a:p>
        </p:txBody>
      </p:sp>
      <p:sp>
        <p:nvSpPr>
          <p:cNvPr id="233" name="Google Shape;233;p17"/>
          <p:cNvSpPr txBox="1"/>
          <p:nvPr/>
        </p:nvSpPr>
        <p:spPr>
          <a:xfrm>
            <a:off x="4416400" y="3476774"/>
            <a:ext cx="3964781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timestamps strictly preserved without synthetic padding.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7486650" y="502853"/>
            <a:ext cx="1257300" cy="214313"/>
          </a:xfrm>
          <a:prstGeom prst="roundRect">
            <a:avLst>
              <a:gd name="adj" fmla="val 20000"/>
            </a:avLst>
          </a:prstGeom>
          <a:solidFill>
            <a:srgbClr val="08161D"/>
          </a:solidFill>
          <a:ln w="9525" cap="flat" cmpd="sng">
            <a:solidFill>
              <a:srgbClr val="103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400050" y="1894432"/>
            <a:ext cx="4648237" cy="1978819"/>
          </a:xfrm>
          <a:prstGeom prst="roundRect">
            <a:avLst>
              <a:gd name="adj" fmla="val 5054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5248312" y="2062981"/>
            <a:ext cx="3495638" cy="1641611"/>
          </a:xfrm>
          <a:prstGeom prst="roundRect">
            <a:avLst>
              <a:gd name="adj" fmla="val 6092"/>
            </a:avLst>
          </a:prstGeom>
          <a:solidFill>
            <a:srgbClr val="0C1222"/>
          </a:solidFill>
          <a:ln w="9525" cap="flat" cmpd="sng">
            <a:solidFill>
              <a:srgbClr val="0E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607219" y="2537370"/>
            <a:ext cx="4233899" cy="57150"/>
          </a:xfrm>
          <a:prstGeom prst="roundRect">
            <a:avLst>
              <a:gd name="adj" fmla="val 50000"/>
            </a:avLst>
          </a:prstGeom>
          <a:solidFill>
            <a:srgbClr val="18182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607219" y="2894557"/>
            <a:ext cx="4233899" cy="57150"/>
          </a:xfrm>
          <a:prstGeom prst="roundRect">
            <a:avLst>
              <a:gd name="adj" fmla="val 50000"/>
            </a:avLst>
          </a:prstGeom>
          <a:solidFill>
            <a:srgbClr val="18182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07219" y="3251745"/>
            <a:ext cx="4233899" cy="57150"/>
          </a:xfrm>
          <a:prstGeom prst="roundRect">
            <a:avLst>
              <a:gd name="adj" fmla="val 50000"/>
            </a:avLst>
          </a:prstGeom>
          <a:solidFill>
            <a:srgbClr val="18182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07219" y="3608932"/>
            <a:ext cx="4233899" cy="57150"/>
          </a:xfrm>
          <a:prstGeom prst="roundRect">
            <a:avLst>
              <a:gd name="adj" fmla="val 50000"/>
            </a:avLst>
          </a:prstGeom>
          <a:solidFill>
            <a:srgbClr val="18182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07219" y="2537370"/>
            <a:ext cx="2370944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607219" y="2894557"/>
            <a:ext cx="1735820" cy="571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607219" y="3251745"/>
            <a:ext cx="338658" cy="5715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607219" y="3608932"/>
            <a:ext cx="169329" cy="571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586663" y="545715"/>
            <a:ext cx="1128713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Corridor: California</a:t>
            </a:r>
            <a:endParaRPr sz="1100"/>
          </a:p>
        </p:txBody>
      </p:sp>
      <p:sp>
        <p:nvSpPr>
          <p:cNvPr id="251" name="Google Shape;251;p18"/>
          <p:cNvSpPr txBox="1"/>
          <p:nvPr/>
        </p:nvSpPr>
        <p:spPr>
          <a:xfrm>
            <a:off x="400050" y="285750"/>
            <a:ext cx="42845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 ORIGIN METRICS</a:t>
            </a:r>
            <a:endParaRPr sz="1100"/>
          </a:p>
        </p:txBody>
      </p:sp>
      <p:sp>
        <p:nvSpPr>
          <p:cNvPr id="252" name="Google Shape;252;p18"/>
          <p:cNvSpPr txBox="1"/>
          <p:nvPr/>
        </p:nvSpPr>
        <p:spPr>
          <a:xfrm>
            <a:off x="400050" y="442913"/>
            <a:ext cx="4498804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Factory Volume &amp; Top Routes</a:t>
            </a:r>
            <a:endParaRPr sz="1100"/>
          </a:p>
        </p:txBody>
      </p:sp>
      <p:sp>
        <p:nvSpPr>
          <p:cNvPr id="253" name="Google Shape;253;p18"/>
          <p:cNvSpPr txBox="1"/>
          <p:nvPr/>
        </p:nvSpPr>
        <p:spPr>
          <a:xfrm>
            <a:off x="607219" y="2101601"/>
            <a:ext cx="5292374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SHIPMENT VOLUME BY FACTORY</a:t>
            </a:r>
            <a:endParaRPr sz="1100"/>
          </a:p>
        </p:txBody>
      </p:sp>
      <p:sp>
        <p:nvSpPr>
          <p:cNvPr id="254" name="Google Shape;254;p18"/>
          <p:cNvSpPr txBox="1"/>
          <p:nvPr/>
        </p:nvSpPr>
        <p:spPr>
          <a:xfrm>
            <a:off x="5484056" y="2298725"/>
            <a:ext cx="3659944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HIGHEST DENSITY CORRIDOR</a:t>
            </a:r>
            <a:endParaRPr sz="1100"/>
          </a:p>
        </p:txBody>
      </p:sp>
      <p:sp>
        <p:nvSpPr>
          <p:cNvPr id="255" name="Google Shape;255;p18"/>
          <p:cNvSpPr txBox="1"/>
          <p:nvPr/>
        </p:nvSpPr>
        <p:spPr>
          <a:xfrm>
            <a:off x="5484056" y="2491606"/>
            <a:ext cx="3659944" cy="20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Lot's O' Nuts → California</a:t>
            </a:r>
            <a:endParaRPr sz="1100"/>
          </a:p>
        </p:txBody>
      </p:sp>
      <p:sp>
        <p:nvSpPr>
          <p:cNvPr id="256" name="Google Shape;256;p18"/>
          <p:cNvSpPr txBox="1"/>
          <p:nvPr/>
        </p:nvSpPr>
        <p:spPr>
          <a:xfrm>
            <a:off x="5484056" y="2797336"/>
            <a:ext cx="3659944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1,125</a:t>
            </a:r>
            <a:endParaRPr sz="1100"/>
          </a:p>
        </p:txBody>
      </p:sp>
      <p:sp>
        <p:nvSpPr>
          <p:cNvPr id="257" name="Google Shape;257;p18"/>
          <p:cNvSpPr txBox="1"/>
          <p:nvPr/>
        </p:nvSpPr>
        <p:spPr>
          <a:xfrm>
            <a:off x="5484056" y="3318830"/>
            <a:ext cx="3659944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volume shipments handled on primary freight lane.</a:t>
            </a:r>
            <a:endParaRPr sz="1100"/>
          </a:p>
        </p:txBody>
      </p:sp>
      <p:sp>
        <p:nvSpPr>
          <p:cNvPr id="258" name="Google Shape;258;p18"/>
          <p:cNvSpPr txBox="1"/>
          <p:nvPr/>
        </p:nvSpPr>
        <p:spPr>
          <a:xfrm>
            <a:off x="607219" y="2351632"/>
            <a:ext cx="8786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Lot's O' Nuts</a:t>
            </a:r>
            <a:endParaRPr sz="1100"/>
          </a:p>
        </p:txBody>
      </p:sp>
      <p:sp>
        <p:nvSpPr>
          <p:cNvPr id="259" name="Google Shape;259;p18"/>
          <p:cNvSpPr txBox="1"/>
          <p:nvPr/>
        </p:nvSpPr>
        <p:spPr>
          <a:xfrm>
            <a:off x="4519649" y="2351632"/>
            <a:ext cx="5357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5,692</a:t>
            </a:r>
            <a:endParaRPr sz="1100"/>
          </a:p>
        </p:txBody>
      </p:sp>
      <p:sp>
        <p:nvSpPr>
          <p:cNvPr id="260" name="Google Shape;260;p18"/>
          <p:cNvSpPr txBox="1"/>
          <p:nvPr/>
        </p:nvSpPr>
        <p:spPr>
          <a:xfrm>
            <a:off x="607219" y="2708820"/>
            <a:ext cx="115192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Wicked Choccy's</a:t>
            </a:r>
            <a:endParaRPr sz="1100"/>
          </a:p>
        </p:txBody>
      </p:sp>
      <p:sp>
        <p:nvSpPr>
          <p:cNvPr id="261" name="Google Shape;261;p18"/>
          <p:cNvSpPr txBox="1"/>
          <p:nvPr/>
        </p:nvSpPr>
        <p:spPr>
          <a:xfrm>
            <a:off x="4519649" y="2708820"/>
            <a:ext cx="5357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4,152</a:t>
            </a:r>
            <a:endParaRPr sz="1100"/>
          </a:p>
        </p:txBody>
      </p:sp>
      <p:sp>
        <p:nvSpPr>
          <p:cNvPr id="262" name="Google Shape;262;p18"/>
          <p:cNvSpPr txBox="1"/>
          <p:nvPr/>
        </p:nvSpPr>
        <p:spPr>
          <a:xfrm>
            <a:off x="607219" y="3066007"/>
            <a:ext cx="98583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Secret Factory</a:t>
            </a:r>
            <a:endParaRPr sz="1100"/>
          </a:p>
        </p:txBody>
      </p:sp>
      <p:sp>
        <p:nvSpPr>
          <p:cNvPr id="263" name="Google Shape;263;p18"/>
          <p:cNvSpPr txBox="1"/>
          <p:nvPr/>
        </p:nvSpPr>
        <p:spPr>
          <a:xfrm>
            <a:off x="4648237" y="3066007"/>
            <a:ext cx="4071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217</a:t>
            </a:r>
            <a:endParaRPr sz="1100"/>
          </a:p>
        </p:txBody>
      </p:sp>
      <p:sp>
        <p:nvSpPr>
          <p:cNvPr id="264" name="Google Shape;264;p18"/>
          <p:cNvSpPr txBox="1"/>
          <p:nvPr/>
        </p:nvSpPr>
        <p:spPr>
          <a:xfrm>
            <a:off x="607219" y="3423195"/>
            <a:ext cx="2107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Other Factory / Sugar Shack</a:t>
            </a:r>
            <a:endParaRPr sz="1100"/>
          </a:p>
        </p:txBody>
      </p:sp>
      <p:sp>
        <p:nvSpPr>
          <p:cNvPr id="265" name="Google Shape;265;p18"/>
          <p:cNvSpPr txBox="1"/>
          <p:nvPr/>
        </p:nvSpPr>
        <p:spPr>
          <a:xfrm>
            <a:off x="4648237" y="3423195"/>
            <a:ext cx="4071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133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7679531" y="502853"/>
            <a:ext cx="1064419" cy="214313"/>
          </a:xfrm>
          <a:prstGeom prst="roundRect">
            <a:avLst>
              <a:gd name="adj" fmla="val 20000"/>
            </a:avLst>
          </a:prstGeom>
          <a:solidFill>
            <a:srgbClr val="121217"/>
          </a:solidFill>
          <a:ln w="9525" cap="flat" cmpd="sng">
            <a:solidFill>
              <a:srgbClr val="222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00050" y="2302408"/>
            <a:ext cx="1989534" cy="1162980"/>
          </a:xfrm>
          <a:prstGeom prst="roundRect">
            <a:avLst>
              <a:gd name="adj" fmla="val 8599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2518172" y="2302408"/>
            <a:ext cx="1989534" cy="1162980"/>
          </a:xfrm>
          <a:prstGeom prst="roundRect">
            <a:avLst>
              <a:gd name="adj" fmla="val 8599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636294" y="2302408"/>
            <a:ext cx="1989534" cy="1162980"/>
          </a:xfrm>
          <a:prstGeom prst="roundRect">
            <a:avLst>
              <a:gd name="adj" fmla="val 8599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6754415" y="2302408"/>
            <a:ext cx="1989534" cy="1162980"/>
          </a:xfrm>
          <a:prstGeom prst="roundRect">
            <a:avLst>
              <a:gd name="adj" fmla="val 8599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400050" y="3458244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400050" y="2302408"/>
            <a:ext cx="1989534" cy="2143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00050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2382440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2518172" y="3458244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2518172" y="2302408"/>
            <a:ext cx="1989534" cy="21431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2518172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4500563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4636294" y="3458244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4636294" y="2302408"/>
            <a:ext cx="1989534" cy="21431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4636294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6618684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6754415" y="3458244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6754415" y="2302408"/>
            <a:ext cx="1989534" cy="21431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6754415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8736806" y="2302408"/>
            <a:ext cx="7144" cy="116298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7779544" y="545715"/>
            <a:ext cx="93583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Shipping Classes</a:t>
            </a:r>
            <a:endParaRPr sz="1100"/>
          </a:p>
        </p:txBody>
      </p:sp>
      <p:sp>
        <p:nvSpPr>
          <p:cNvPr id="293" name="Google Shape;293;p19"/>
          <p:cNvSpPr txBox="1"/>
          <p:nvPr/>
        </p:nvSpPr>
        <p:spPr>
          <a:xfrm>
            <a:off x="400050" y="285750"/>
            <a:ext cx="491607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LOGISTICS MIX</a:t>
            </a:r>
            <a:endParaRPr sz="1100"/>
          </a:p>
        </p:txBody>
      </p:sp>
      <p:sp>
        <p:nvSpPr>
          <p:cNvPr id="294" name="Google Shape;294;p19"/>
          <p:cNvSpPr txBox="1"/>
          <p:nvPr/>
        </p:nvSpPr>
        <p:spPr>
          <a:xfrm>
            <a:off x="400050" y="442913"/>
            <a:ext cx="5161875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Shipping Mode Usage Breakdown</a:t>
            </a:r>
            <a:endParaRPr sz="1100"/>
          </a:p>
        </p:txBody>
      </p:sp>
      <p:sp>
        <p:nvSpPr>
          <p:cNvPr id="295" name="Google Shape;295;p19"/>
          <p:cNvSpPr txBox="1"/>
          <p:nvPr/>
        </p:nvSpPr>
        <p:spPr>
          <a:xfrm>
            <a:off x="392459" y="2509577"/>
            <a:ext cx="2004715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Class</a:t>
            </a:r>
            <a:endParaRPr sz="1100"/>
          </a:p>
        </p:txBody>
      </p:sp>
      <p:sp>
        <p:nvSpPr>
          <p:cNvPr id="296" name="Google Shape;296;p19"/>
          <p:cNvSpPr txBox="1"/>
          <p:nvPr/>
        </p:nvSpPr>
        <p:spPr>
          <a:xfrm>
            <a:off x="392459" y="2745320"/>
            <a:ext cx="2004715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6,120</a:t>
            </a:r>
            <a:endParaRPr sz="1100"/>
          </a:p>
        </p:txBody>
      </p:sp>
      <p:sp>
        <p:nvSpPr>
          <p:cNvPr id="297" name="Google Shape;297;p19"/>
          <p:cNvSpPr txBox="1"/>
          <p:nvPr/>
        </p:nvSpPr>
        <p:spPr>
          <a:xfrm>
            <a:off x="392459" y="3143919"/>
            <a:ext cx="200471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60.0% of total volume.</a:t>
            </a:r>
            <a:endParaRPr sz="1100"/>
          </a:p>
        </p:txBody>
      </p:sp>
      <p:sp>
        <p:nvSpPr>
          <p:cNvPr id="298" name="Google Shape;298;p19"/>
          <p:cNvSpPr txBox="1"/>
          <p:nvPr/>
        </p:nvSpPr>
        <p:spPr>
          <a:xfrm>
            <a:off x="2510582" y="2509577"/>
            <a:ext cx="2004715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 Class</a:t>
            </a:r>
            <a:endParaRPr sz="1100"/>
          </a:p>
        </p:txBody>
      </p:sp>
      <p:sp>
        <p:nvSpPr>
          <p:cNvPr id="299" name="Google Shape;299;p19"/>
          <p:cNvSpPr txBox="1"/>
          <p:nvPr/>
        </p:nvSpPr>
        <p:spPr>
          <a:xfrm>
            <a:off x="2510582" y="2745320"/>
            <a:ext cx="2004715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1,979</a:t>
            </a:r>
            <a:endParaRPr sz="1100"/>
          </a:p>
        </p:txBody>
      </p:sp>
      <p:sp>
        <p:nvSpPr>
          <p:cNvPr id="300" name="Google Shape;300;p19"/>
          <p:cNvSpPr txBox="1"/>
          <p:nvPr/>
        </p:nvSpPr>
        <p:spPr>
          <a:xfrm>
            <a:off x="2510582" y="3143919"/>
            <a:ext cx="200471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19.4% mid-tier dispatch.</a:t>
            </a:r>
            <a:endParaRPr sz="1100"/>
          </a:p>
        </p:txBody>
      </p:sp>
      <p:sp>
        <p:nvSpPr>
          <p:cNvPr id="301" name="Google Shape;301;p19"/>
          <p:cNvSpPr txBox="1"/>
          <p:nvPr/>
        </p:nvSpPr>
        <p:spPr>
          <a:xfrm>
            <a:off x="4628703" y="2509577"/>
            <a:ext cx="2004715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First Class</a:t>
            </a:r>
            <a:endParaRPr sz="1100"/>
          </a:p>
        </p:txBody>
      </p:sp>
      <p:sp>
        <p:nvSpPr>
          <p:cNvPr id="302" name="Google Shape;302;p19"/>
          <p:cNvSpPr txBox="1"/>
          <p:nvPr/>
        </p:nvSpPr>
        <p:spPr>
          <a:xfrm>
            <a:off x="4628703" y="2745320"/>
            <a:ext cx="2004715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1,548</a:t>
            </a:r>
            <a:endParaRPr sz="1100"/>
          </a:p>
        </p:txBody>
      </p:sp>
      <p:sp>
        <p:nvSpPr>
          <p:cNvPr id="303" name="Google Shape;303;p19"/>
          <p:cNvSpPr txBox="1"/>
          <p:nvPr/>
        </p:nvSpPr>
        <p:spPr>
          <a:xfrm>
            <a:off x="4628703" y="3143919"/>
            <a:ext cx="200471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15.2% priority freight.</a:t>
            </a:r>
            <a:endParaRPr sz="1100"/>
          </a:p>
        </p:txBody>
      </p:sp>
      <p:sp>
        <p:nvSpPr>
          <p:cNvPr id="304" name="Google Shape;304;p19"/>
          <p:cNvSpPr txBox="1"/>
          <p:nvPr/>
        </p:nvSpPr>
        <p:spPr>
          <a:xfrm>
            <a:off x="6746825" y="2509577"/>
            <a:ext cx="2004715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Same Day</a:t>
            </a:r>
            <a:endParaRPr sz="1100"/>
          </a:p>
        </p:txBody>
      </p:sp>
      <p:sp>
        <p:nvSpPr>
          <p:cNvPr id="305" name="Google Shape;305;p19"/>
          <p:cNvSpPr txBox="1"/>
          <p:nvPr/>
        </p:nvSpPr>
        <p:spPr>
          <a:xfrm>
            <a:off x="6746825" y="2745320"/>
            <a:ext cx="2004715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547</a:t>
            </a:r>
            <a:endParaRPr sz="1100"/>
          </a:p>
        </p:txBody>
      </p:sp>
      <p:sp>
        <p:nvSpPr>
          <p:cNvPr id="306" name="Google Shape;306;p19"/>
          <p:cNvSpPr txBox="1"/>
          <p:nvPr/>
        </p:nvSpPr>
        <p:spPr>
          <a:xfrm>
            <a:off x="6746825" y="3143919"/>
            <a:ext cx="200471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5.4% express fulfillment.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7615238" y="502853"/>
            <a:ext cx="1128713" cy="214313"/>
          </a:xfrm>
          <a:prstGeom prst="roundRect">
            <a:avLst>
              <a:gd name="adj" fmla="val 20000"/>
            </a:avLst>
          </a:prstGeom>
          <a:solidFill>
            <a:srgbClr val="08161D"/>
          </a:solidFill>
          <a:ln w="9525" cap="flat" cmpd="sng">
            <a:solidFill>
              <a:srgbClr val="103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400050" y="2363130"/>
            <a:ext cx="2666962" cy="1041536"/>
          </a:xfrm>
          <a:prstGeom prst="roundRect">
            <a:avLst>
              <a:gd name="adj" fmla="val 9602"/>
            </a:avLst>
          </a:prstGeom>
          <a:solidFill>
            <a:srgbClr val="061810"/>
          </a:solidFill>
          <a:ln w="9525" cap="flat" cmpd="sng">
            <a:solidFill>
              <a:srgbClr val="0D2D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3238463" y="2363130"/>
            <a:ext cx="2666963" cy="1041536"/>
          </a:xfrm>
          <a:prstGeom prst="roundRect">
            <a:avLst>
              <a:gd name="adj" fmla="val 9602"/>
            </a:avLst>
          </a:prstGeom>
          <a:solidFill>
            <a:srgbClr val="1A0A0F"/>
          </a:solidFill>
          <a:ln w="9525" cap="flat" cmpd="sng">
            <a:solidFill>
              <a:srgbClr val="330F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6076875" y="2363130"/>
            <a:ext cx="2666963" cy="1041536"/>
          </a:xfrm>
          <a:prstGeom prst="roundRect">
            <a:avLst>
              <a:gd name="adj" fmla="val 9602"/>
            </a:avLst>
          </a:prstGeom>
          <a:solidFill>
            <a:srgbClr val="081325"/>
          </a:solidFill>
          <a:ln w="9525" cap="flat" cmpd="sng">
            <a:solidFill>
              <a:srgbClr val="0E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7715250" y="545715"/>
            <a:ext cx="1000125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Gross Margin: ~66%</a:t>
            </a:r>
            <a:endParaRPr sz="1100"/>
          </a:p>
        </p:txBody>
      </p:sp>
      <p:sp>
        <p:nvSpPr>
          <p:cNvPr id="317" name="Google Shape;317;p20"/>
          <p:cNvSpPr txBox="1"/>
          <p:nvPr/>
        </p:nvSpPr>
        <p:spPr>
          <a:xfrm>
            <a:off x="400050" y="285750"/>
            <a:ext cx="5173916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OVERVIEW</a:t>
            </a:r>
            <a:endParaRPr sz="1100"/>
          </a:p>
        </p:txBody>
      </p:sp>
      <p:sp>
        <p:nvSpPr>
          <p:cNvPr id="318" name="Google Shape;318;p20"/>
          <p:cNvSpPr txBox="1"/>
          <p:nvPr/>
        </p:nvSpPr>
        <p:spPr>
          <a:xfrm>
            <a:off x="400050" y="442913"/>
            <a:ext cx="5432612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Core Business Metrics &amp; Profitability</a:t>
            </a:r>
            <a:endParaRPr sz="1100"/>
          </a:p>
        </p:txBody>
      </p:sp>
      <p:sp>
        <p:nvSpPr>
          <p:cNvPr id="319" name="Google Shape;319;p20"/>
          <p:cNvSpPr txBox="1"/>
          <p:nvPr/>
        </p:nvSpPr>
        <p:spPr>
          <a:xfrm>
            <a:off x="592931" y="2556011"/>
            <a:ext cx="2851500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SALES</a:t>
            </a:r>
            <a:endParaRPr sz="1100"/>
          </a:p>
        </p:txBody>
      </p:sp>
      <p:sp>
        <p:nvSpPr>
          <p:cNvPr id="320" name="Google Shape;320;p20"/>
          <p:cNvSpPr txBox="1"/>
          <p:nvPr/>
        </p:nvSpPr>
        <p:spPr>
          <a:xfrm>
            <a:off x="592931" y="2734605"/>
            <a:ext cx="2851500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$141,783</a:t>
            </a:r>
            <a:endParaRPr sz="1100"/>
          </a:p>
        </p:txBody>
      </p:sp>
      <p:sp>
        <p:nvSpPr>
          <p:cNvPr id="321" name="Google Shape;321;p20"/>
          <p:cNvSpPr txBox="1"/>
          <p:nvPr/>
        </p:nvSpPr>
        <p:spPr>
          <a:xfrm>
            <a:off x="592931" y="3076054"/>
            <a:ext cx="2851500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gross revenue generated.</a:t>
            </a:r>
            <a:endParaRPr sz="1100"/>
          </a:p>
        </p:txBody>
      </p:sp>
      <p:sp>
        <p:nvSpPr>
          <p:cNvPr id="322" name="Google Shape;322;p20"/>
          <p:cNvSpPr txBox="1"/>
          <p:nvPr/>
        </p:nvSpPr>
        <p:spPr>
          <a:xfrm>
            <a:off x="3431344" y="2556011"/>
            <a:ext cx="2851500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FB71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SHIPPING COST</a:t>
            </a:r>
            <a:endParaRPr sz="1100"/>
          </a:p>
        </p:txBody>
      </p:sp>
      <p:sp>
        <p:nvSpPr>
          <p:cNvPr id="323" name="Google Shape;323;p20"/>
          <p:cNvSpPr txBox="1"/>
          <p:nvPr/>
        </p:nvSpPr>
        <p:spPr>
          <a:xfrm>
            <a:off x="3431344" y="2734605"/>
            <a:ext cx="2851500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$48,340</a:t>
            </a:r>
            <a:endParaRPr sz="1100"/>
          </a:p>
        </p:txBody>
      </p:sp>
      <p:sp>
        <p:nvSpPr>
          <p:cNvPr id="324" name="Google Shape;324;p20"/>
          <p:cNvSpPr txBox="1"/>
          <p:nvPr/>
        </p:nvSpPr>
        <p:spPr>
          <a:xfrm>
            <a:off x="3431344" y="3076054"/>
            <a:ext cx="2851500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FEC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Cumulative route expenditure.</a:t>
            </a:r>
            <a:endParaRPr sz="1100"/>
          </a:p>
        </p:txBody>
      </p:sp>
      <p:sp>
        <p:nvSpPr>
          <p:cNvPr id="325" name="Google Shape;325;p20"/>
          <p:cNvSpPr txBox="1"/>
          <p:nvPr/>
        </p:nvSpPr>
        <p:spPr>
          <a:xfrm>
            <a:off x="6269756" y="2556011"/>
            <a:ext cx="2851500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GROSS PROFIT</a:t>
            </a:r>
            <a:endParaRPr sz="1100"/>
          </a:p>
        </p:txBody>
      </p:sp>
      <p:sp>
        <p:nvSpPr>
          <p:cNvPr id="326" name="Google Shape;326;p20"/>
          <p:cNvSpPr txBox="1"/>
          <p:nvPr/>
        </p:nvSpPr>
        <p:spPr>
          <a:xfrm>
            <a:off x="6269756" y="2734605"/>
            <a:ext cx="2851500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$93,442</a:t>
            </a:r>
            <a:endParaRPr sz="1100"/>
          </a:p>
        </p:txBody>
      </p:sp>
      <p:sp>
        <p:nvSpPr>
          <p:cNvPr id="327" name="Google Shape;327;p20"/>
          <p:cNvSpPr txBox="1"/>
          <p:nvPr/>
        </p:nvSpPr>
        <p:spPr>
          <a:xfrm>
            <a:off x="6269756" y="3076054"/>
            <a:ext cx="2851500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 margin across product mix.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7708106" y="502853"/>
            <a:ext cx="1035844" cy="214313"/>
          </a:xfrm>
          <a:prstGeom prst="roundRect">
            <a:avLst>
              <a:gd name="adj" fmla="val 20000"/>
            </a:avLst>
          </a:prstGeom>
          <a:solidFill>
            <a:srgbClr val="08161D"/>
          </a:solidFill>
          <a:ln w="9525" cap="flat" cmpd="sng">
            <a:solidFill>
              <a:srgbClr val="103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400050" y="2163105"/>
            <a:ext cx="1989534" cy="1441475"/>
          </a:xfrm>
          <a:prstGeom prst="roundRect">
            <a:avLst>
              <a:gd name="adj" fmla="val 6938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2518172" y="2163105"/>
            <a:ext cx="1989534" cy="1441475"/>
          </a:xfrm>
          <a:prstGeom prst="roundRect">
            <a:avLst>
              <a:gd name="adj" fmla="val 6938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4636294" y="2163105"/>
            <a:ext cx="1989534" cy="1441475"/>
          </a:xfrm>
          <a:prstGeom prst="roundRect">
            <a:avLst>
              <a:gd name="adj" fmla="val 6938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6754415" y="2163105"/>
            <a:ext cx="1989534" cy="1441475"/>
          </a:xfrm>
          <a:prstGeom prst="roundRect">
            <a:avLst>
              <a:gd name="adj" fmla="val 6938"/>
            </a:avLst>
          </a:prstGeom>
          <a:solidFill>
            <a:srgbClr val="0C0C1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92931" y="2370274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101E27"/>
          </a:solidFill>
          <a:ln w="9525" cap="flat" cmpd="sng">
            <a:solidFill>
              <a:srgbClr val="1738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400050" y="3597436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400050" y="2163105"/>
            <a:ext cx="1989534" cy="2143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400050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2382440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2711053" y="2370274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181927"/>
          </a:solidFill>
          <a:ln w="9525" cap="flat" cmpd="sng">
            <a:solidFill>
              <a:srgbClr val="2F32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2518172" y="3597436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2518172" y="2163105"/>
            <a:ext cx="1989534" cy="21431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2518172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4500563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4829175" y="2370274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1E1828"/>
          </a:solidFill>
          <a:ln w="9525" cap="flat" cmpd="sng">
            <a:solidFill>
              <a:srgbClr val="423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4636294" y="3597436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4636294" y="2163105"/>
            <a:ext cx="1989534" cy="21431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4636294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6618684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947297" y="2370274"/>
            <a:ext cx="314325" cy="314325"/>
          </a:xfrm>
          <a:prstGeom prst="roundRect">
            <a:avLst>
              <a:gd name="adj" fmla="val 22727"/>
            </a:avLst>
          </a:prstGeom>
          <a:solidFill>
            <a:srgbClr val="10201E"/>
          </a:solidFill>
          <a:ln w="9525" cap="flat" cmpd="sng">
            <a:solidFill>
              <a:srgbClr val="1848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6754415" y="3597436"/>
            <a:ext cx="1989534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6754415" y="2163105"/>
            <a:ext cx="1989534" cy="2143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6754415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8736806" y="2163105"/>
            <a:ext cx="7144" cy="1441475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7808119" y="545715"/>
            <a:ext cx="907256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Cycle</a:t>
            </a:r>
            <a:endParaRPr sz="1100"/>
          </a:p>
        </p:txBody>
      </p:sp>
      <p:sp>
        <p:nvSpPr>
          <p:cNvPr id="359" name="Google Shape;359;p21"/>
          <p:cNvSpPr txBox="1"/>
          <p:nvPr/>
        </p:nvSpPr>
        <p:spPr>
          <a:xfrm>
            <a:off x="400050" y="285750"/>
            <a:ext cx="4821752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OPTIMIZATION LOOP</a:t>
            </a:r>
            <a:endParaRPr sz="1100"/>
          </a:p>
        </p:txBody>
      </p:sp>
      <p:sp>
        <p:nvSpPr>
          <p:cNvPr id="360" name="Google Shape;360;p21"/>
          <p:cNvSpPr txBox="1"/>
          <p:nvPr/>
        </p:nvSpPr>
        <p:spPr>
          <a:xfrm>
            <a:off x="400050" y="442913"/>
            <a:ext cx="5062840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 ML Cost Prediction Pipeline Cycle</a:t>
            </a:r>
            <a:endParaRPr sz="1100"/>
          </a:p>
        </p:txBody>
      </p:sp>
      <p:sp>
        <p:nvSpPr>
          <p:cNvPr id="361" name="Google Shape;361;p21"/>
          <p:cNvSpPr txBox="1"/>
          <p:nvPr/>
        </p:nvSpPr>
        <p:spPr>
          <a:xfrm>
            <a:off x="485775" y="2370274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sz="1100"/>
          </a:p>
        </p:txBody>
      </p:sp>
      <p:sp>
        <p:nvSpPr>
          <p:cNvPr id="362" name="Google Shape;362;p21"/>
          <p:cNvSpPr txBox="1"/>
          <p:nvPr/>
        </p:nvSpPr>
        <p:spPr>
          <a:xfrm>
            <a:off x="592931" y="2770324"/>
            <a:ext cx="210495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Ingestion</a:t>
            </a:r>
            <a:endParaRPr sz="1100"/>
          </a:p>
        </p:txBody>
      </p:sp>
      <p:sp>
        <p:nvSpPr>
          <p:cNvPr id="363" name="Google Shape;363;p21"/>
          <p:cNvSpPr txBox="1"/>
          <p:nvPr/>
        </p:nvSpPr>
        <p:spPr>
          <a:xfrm>
            <a:off x="592931" y="2991780"/>
            <a:ext cx="1675209" cy="27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and parse 10,194 shipping logs and temporal features.</a:t>
            </a:r>
            <a:endParaRPr sz="1100"/>
          </a:p>
        </p:txBody>
      </p:sp>
      <p:sp>
        <p:nvSpPr>
          <p:cNvPr id="364" name="Google Shape;364;p21"/>
          <p:cNvSpPr txBox="1"/>
          <p:nvPr/>
        </p:nvSpPr>
        <p:spPr>
          <a:xfrm>
            <a:off x="2603897" y="2370274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sz="1100"/>
          </a:p>
        </p:txBody>
      </p:sp>
      <p:sp>
        <p:nvSpPr>
          <p:cNvPr id="365" name="Google Shape;365;p21"/>
          <p:cNvSpPr txBox="1"/>
          <p:nvPr/>
        </p:nvSpPr>
        <p:spPr>
          <a:xfrm>
            <a:off x="2711053" y="2770324"/>
            <a:ext cx="210495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Encoding</a:t>
            </a:r>
            <a:endParaRPr sz="1100"/>
          </a:p>
        </p:txBody>
      </p:sp>
      <p:sp>
        <p:nvSpPr>
          <p:cNvPr id="366" name="Google Shape;366;p21"/>
          <p:cNvSpPr txBox="1"/>
          <p:nvPr/>
        </p:nvSpPr>
        <p:spPr>
          <a:xfrm>
            <a:off x="2711053" y="2991780"/>
            <a:ext cx="1675209" cy="41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One-hot vectorization for factories, modes, and destinations.</a:t>
            </a:r>
            <a:endParaRPr sz="1100"/>
          </a:p>
        </p:txBody>
      </p:sp>
      <p:sp>
        <p:nvSpPr>
          <p:cNvPr id="367" name="Google Shape;367;p21"/>
          <p:cNvSpPr txBox="1"/>
          <p:nvPr/>
        </p:nvSpPr>
        <p:spPr>
          <a:xfrm>
            <a:off x="4722019" y="2370274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sz="1100"/>
          </a:p>
        </p:txBody>
      </p:sp>
      <p:sp>
        <p:nvSpPr>
          <p:cNvPr id="368" name="Google Shape;368;p21"/>
          <p:cNvSpPr txBox="1"/>
          <p:nvPr/>
        </p:nvSpPr>
        <p:spPr>
          <a:xfrm>
            <a:off x="4829175" y="2770324"/>
            <a:ext cx="210495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Modeling</a:t>
            </a:r>
            <a:endParaRPr sz="1100"/>
          </a:p>
        </p:txBody>
      </p:sp>
      <p:sp>
        <p:nvSpPr>
          <p:cNvPr id="369" name="Google Shape;369;p21"/>
          <p:cNvSpPr txBox="1"/>
          <p:nvPr/>
        </p:nvSpPr>
        <p:spPr>
          <a:xfrm>
            <a:off x="4829175" y="2991780"/>
            <a:ext cx="1675209" cy="27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Random Forest Regression training &amp; 5-fold cross validation.</a:t>
            </a:r>
            <a:endParaRPr sz="1100"/>
          </a:p>
        </p:txBody>
      </p:sp>
      <p:sp>
        <p:nvSpPr>
          <p:cNvPr id="370" name="Google Shape;370;p21"/>
          <p:cNvSpPr txBox="1"/>
          <p:nvPr/>
        </p:nvSpPr>
        <p:spPr>
          <a:xfrm>
            <a:off x="6840140" y="2370274"/>
            <a:ext cx="52863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sz="1100"/>
          </a:p>
        </p:txBody>
      </p:sp>
      <p:sp>
        <p:nvSpPr>
          <p:cNvPr id="371" name="Google Shape;371;p21"/>
          <p:cNvSpPr txBox="1"/>
          <p:nvPr/>
        </p:nvSpPr>
        <p:spPr>
          <a:xfrm>
            <a:off x="6947297" y="2770324"/>
            <a:ext cx="210495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Predict</a:t>
            </a:r>
            <a:endParaRPr sz="1100"/>
          </a:p>
        </p:txBody>
      </p:sp>
      <p:sp>
        <p:nvSpPr>
          <p:cNvPr id="372" name="Google Shape;372;p21"/>
          <p:cNvSpPr txBox="1"/>
          <p:nvPr/>
        </p:nvSpPr>
        <p:spPr>
          <a:xfrm>
            <a:off x="6947297" y="2991780"/>
            <a:ext cx="1675209" cy="27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 saved model PKL via interactive Streamlit inference UI.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7515225" y="502853"/>
            <a:ext cx="1228725" cy="214313"/>
          </a:xfrm>
          <a:prstGeom prst="roundRect">
            <a:avLst>
              <a:gd name="adj" fmla="val 20000"/>
            </a:avLst>
          </a:prstGeom>
          <a:solidFill>
            <a:srgbClr val="08161D"/>
          </a:solidFill>
          <a:ln w="9525" cap="flat" cmpd="sng">
            <a:solidFill>
              <a:srgbClr val="103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400050" y="2320268"/>
            <a:ext cx="2686050" cy="1127261"/>
          </a:xfrm>
          <a:prstGeom prst="roundRect">
            <a:avLst>
              <a:gd name="adj" fmla="val 8872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3228975" y="2320268"/>
            <a:ext cx="2686050" cy="1127261"/>
          </a:xfrm>
          <a:prstGeom prst="roundRect">
            <a:avLst>
              <a:gd name="adj" fmla="val 8872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6057900" y="2320268"/>
            <a:ext cx="2686050" cy="1127261"/>
          </a:xfrm>
          <a:prstGeom prst="roundRect">
            <a:avLst>
              <a:gd name="adj" fmla="val 8872"/>
            </a:avLst>
          </a:prstGeom>
          <a:solidFill>
            <a:srgbClr val="0C0C10"/>
          </a:solidFill>
          <a:ln w="9525" cap="flat" cmpd="sng">
            <a:solidFill>
              <a:srgbClr val="133B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7615238" y="545715"/>
            <a:ext cx="1100138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5-Fold Mean R²: 0.992</a:t>
            </a:r>
            <a:endParaRPr sz="1100"/>
          </a:p>
        </p:txBody>
      </p:sp>
      <p:sp>
        <p:nvSpPr>
          <p:cNvPr id="383" name="Google Shape;383;p22"/>
          <p:cNvSpPr txBox="1"/>
          <p:nvPr/>
        </p:nvSpPr>
        <p:spPr>
          <a:xfrm>
            <a:off x="400050" y="285750"/>
            <a:ext cx="4266716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 METRICS</a:t>
            </a:r>
            <a:endParaRPr sz="1100"/>
          </a:p>
        </p:txBody>
      </p:sp>
      <p:sp>
        <p:nvSpPr>
          <p:cNvPr id="384" name="Google Shape;384;p22"/>
          <p:cNvSpPr txBox="1"/>
          <p:nvPr/>
        </p:nvSpPr>
        <p:spPr>
          <a:xfrm>
            <a:off x="400050" y="442913"/>
            <a:ext cx="4480052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8. Model Accuracy &amp; Evaluation</a:t>
            </a:r>
            <a:endParaRPr sz="1100"/>
          </a:p>
        </p:txBody>
      </p:sp>
      <p:sp>
        <p:nvSpPr>
          <p:cNvPr id="385" name="Google Shape;385;p22"/>
          <p:cNvSpPr txBox="1"/>
          <p:nvPr/>
        </p:nvSpPr>
        <p:spPr>
          <a:xfrm>
            <a:off x="305395" y="2513149"/>
            <a:ext cx="2875359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MEAN ABSOLUTE ERROR</a:t>
            </a:r>
            <a:endParaRPr sz="1100"/>
          </a:p>
        </p:txBody>
      </p:sp>
      <p:sp>
        <p:nvSpPr>
          <p:cNvPr id="386" name="Google Shape;386;p22"/>
          <p:cNvSpPr txBox="1"/>
          <p:nvPr/>
        </p:nvSpPr>
        <p:spPr>
          <a:xfrm>
            <a:off x="305395" y="2720318"/>
            <a:ext cx="2875359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0.00636</a:t>
            </a:r>
            <a:endParaRPr sz="1100"/>
          </a:p>
        </p:txBody>
      </p:sp>
      <p:sp>
        <p:nvSpPr>
          <p:cNvPr id="387" name="Google Shape;387;p22"/>
          <p:cNvSpPr txBox="1"/>
          <p:nvPr/>
        </p:nvSpPr>
        <p:spPr>
          <a:xfrm>
            <a:off x="305395" y="3118916"/>
            <a:ext cx="2875359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Sub-cent prediction error.</a:t>
            </a:r>
            <a:endParaRPr sz="1100"/>
          </a:p>
        </p:txBody>
      </p:sp>
      <p:sp>
        <p:nvSpPr>
          <p:cNvPr id="388" name="Google Shape;388;p22"/>
          <p:cNvSpPr txBox="1"/>
          <p:nvPr/>
        </p:nvSpPr>
        <p:spPr>
          <a:xfrm>
            <a:off x="3134320" y="2513149"/>
            <a:ext cx="2875359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ROOT MEAN SQ. ERROR</a:t>
            </a:r>
            <a:endParaRPr sz="1100"/>
          </a:p>
        </p:txBody>
      </p:sp>
      <p:sp>
        <p:nvSpPr>
          <p:cNvPr id="389" name="Google Shape;389;p22"/>
          <p:cNvSpPr txBox="1"/>
          <p:nvPr/>
        </p:nvSpPr>
        <p:spPr>
          <a:xfrm>
            <a:off x="3134320" y="2720318"/>
            <a:ext cx="2875359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0.08487</a:t>
            </a:r>
            <a:endParaRPr sz="1100"/>
          </a:p>
        </p:txBody>
      </p:sp>
      <p:sp>
        <p:nvSpPr>
          <p:cNvPr id="390" name="Google Shape;390;p22"/>
          <p:cNvSpPr txBox="1"/>
          <p:nvPr/>
        </p:nvSpPr>
        <p:spPr>
          <a:xfrm>
            <a:off x="3134320" y="3118916"/>
            <a:ext cx="2875359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outlier influence.</a:t>
            </a:r>
            <a:endParaRPr sz="1100"/>
          </a:p>
        </p:txBody>
      </p:sp>
      <p:sp>
        <p:nvSpPr>
          <p:cNvPr id="391" name="Google Shape;391;p22"/>
          <p:cNvSpPr txBox="1"/>
          <p:nvPr/>
        </p:nvSpPr>
        <p:spPr>
          <a:xfrm>
            <a:off x="5963245" y="2513149"/>
            <a:ext cx="2875359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R-SQUARED (R²)</a:t>
            </a:r>
            <a:endParaRPr sz="1100"/>
          </a:p>
        </p:txBody>
      </p:sp>
      <p:sp>
        <p:nvSpPr>
          <p:cNvPr id="392" name="Google Shape;392;p22"/>
          <p:cNvSpPr txBox="1"/>
          <p:nvPr/>
        </p:nvSpPr>
        <p:spPr>
          <a:xfrm>
            <a:off x="5963245" y="2720318"/>
            <a:ext cx="2875359" cy="29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0.99962</a:t>
            </a:r>
            <a:endParaRPr sz="1100"/>
          </a:p>
        </p:txBody>
      </p:sp>
      <p:sp>
        <p:nvSpPr>
          <p:cNvPr id="393" name="Google Shape;393;p22"/>
          <p:cNvSpPr txBox="1"/>
          <p:nvPr/>
        </p:nvSpPr>
        <p:spPr>
          <a:xfrm>
            <a:off x="5963245" y="3118916"/>
            <a:ext cx="2875359" cy="13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dataset fit variance.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7479506" y="502853"/>
            <a:ext cx="1264444" cy="214313"/>
          </a:xfrm>
          <a:prstGeom prst="roundRect">
            <a:avLst>
              <a:gd name="adj" fmla="val 20000"/>
            </a:avLst>
          </a:prstGeom>
          <a:solidFill>
            <a:srgbClr val="121217"/>
          </a:solidFill>
          <a:ln w="9525" cap="flat" cmpd="sng">
            <a:solidFill>
              <a:srgbClr val="222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400050" y="1998017"/>
            <a:ext cx="4357688" cy="1771650"/>
          </a:xfrm>
          <a:prstGeom prst="roundRect">
            <a:avLst>
              <a:gd name="adj" fmla="val 5645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986338" y="2158751"/>
            <a:ext cx="3757613" cy="1450181"/>
          </a:xfrm>
          <a:prstGeom prst="roundRect">
            <a:avLst>
              <a:gd name="adj" fmla="val 6896"/>
            </a:avLst>
          </a:prstGeom>
          <a:solidFill>
            <a:srgbClr val="1C1008"/>
          </a:solidFill>
          <a:ln w="9525" cap="flat" cmpd="sng">
            <a:solidFill>
              <a:srgbClr val="411F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607219" y="2426642"/>
            <a:ext cx="3943350" cy="321469"/>
          </a:xfrm>
          <a:prstGeom prst="roundRect">
            <a:avLst>
              <a:gd name="adj" fmla="val 17777"/>
            </a:avLst>
          </a:prstGeom>
          <a:solidFill>
            <a:srgbClr val="1414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607219" y="2833836"/>
            <a:ext cx="3943350" cy="321469"/>
          </a:xfrm>
          <a:prstGeom prst="roundRect">
            <a:avLst>
              <a:gd name="adj" fmla="val 17777"/>
            </a:avLst>
          </a:prstGeom>
          <a:solidFill>
            <a:srgbClr val="1414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607219" y="3241030"/>
            <a:ext cx="3943350" cy="321469"/>
          </a:xfrm>
          <a:prstGeom prst="roundRect">
            <a:avLst>
              <a:gd name="adj" fmla="val 17777"/>
            </a:avLst>
          </a:prstGeom>
          <a:solidFill>
            <a:srgbClr val="1414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7579519" y="545715"/>
            <a:ext cx="1135856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Weight: Ship Mode</a:t>
            </a:r>
            <a:endParaRPr sz="1100"/>
          </a:p>
        </p:txBody>
      </p:sp>
      <p:sp>
        <p:nvSpPr>
          <p:cNvPr id="406" name="Google Shape;406;p23"/>
          <p:cNvSpPr txBox="1"/>
          <p:nvPr/>
        </p:nvSpPr>
        <p:spPr>
          <a:xfrm>
            <a:off x="400050" y="285750"/>
            <a:ext cx="4949977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DIAGNOSTICS</a:t>
            </a:r>
            <a:endParaRPr sz="1100"/>
          </a:p>
        </p:txBody>
      </p:sp>
      <p:sp>
        <p:nvSpPr>
          <p:cNvPr id="407" name="Google Shape;407;p23"/>
          <p:cNvSpPr txBox="1"/>
          <p:nvPr/>
        </p:nvSpPr>
        <p:spPr>
          <a:xfrm>
            <a:off x="400050" y="442913"/>
            <a:ext cx="5197475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9. Feature Sensitivity &amp; Mode Testing</a:t>
            </a:r>
            <a:endParaRPr sz="1100"/>
          </a:p>
        </p:txBody>
      </p:sp>
      <p:sp>
        <p:nvSpPr>
          <p:cNvPr id="408" name="Google Shape;408;p23"/>
          <p:cNvSpPr txBox="1"/>
          <p:nvPr/>
        </p:nvSpPr>
        <p:spPr>
          <a:xfrm>
            <a:off x="607219" y="2205186"/>
            <a:ext cx="4929188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SENSITIVITY TEST OUTPUT</a:t>
            </a:r>
            <a:endParaRPr sz="1100"/>
          </a:p>
        </p:txBody>
      </p:sp>
      <p:sp>
        <p:nvSpPr>
          <p:cNvPr id="409" name="Google Shape;409;p23"/>
          <p:cNvSpPr txBox="1"/>
          <p:nvPr/>
        </p:nvSpPr>
        <p:spPr>
          <a:xfrm>
            <a:off x="5222081" y="239449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FB92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ML INSIGHT</a:t>
            </a:r>
            <a:endParaRPr sz="1100"/>
          </a:p>
        </p:txBody>
      </p:sp>
      <p:sp>
        <p:nvSpPr>
          <p:cNvPr id="410" name="Google Shape;410;p23"/>
          <p:cNvSpPr txBox="1"/>
          <p:nvPr/>
        </p:nvSpPr>
        <p:spPr>
          <a:xfrm>
            <a:off x="5222081" y="2573089"/>
            <a:ext cx="392191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u="none" strike="noStrike" cap="none">
                <a:solidFill>
                  <a:srgbClr val="FFEDD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 Mode Invariance</a:t>
            </a:r>
            <a:endParaRPr sz="1100"/>
          </a:p>
        </p:txBody>
      </p:sp>
      <p:sp>
        <p:nvSpPr>
          <p:cNvPr id="411" name="Google Shape;411;p23"/>
          <p:cNvSpPr txBox="1"/>
          <p:nvPr/>
        </p:nvSpPr>
        <p:spPr>
          <a:xfrm>
            <a:off x="5222081" y="2858839"/>
            <a:ext cx="3357563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DBA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 Mode holds minimal feature importance in predicting cost. Shipment volume and destination dominate overall price variance.</a:t>
            </a:r>
            <a:endParaRPr sz="1100"/>
          </a:p>
        </p:txBody>
      </p:sp>
      <p:sp>
        <p:nvSpPr>
          <p:cNvPr id="412" name="Google Shape;412;p23"/>
          <p:cNvSpPr txBox="1"/>
          <p:nvPr/>
        </p:nvSpPr>
        <p:spPr>
          <a:xfrm>
            <a:off x="721519" y="2512367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First Class Prediction</a:t>
            </a:r>
            <a:endParaRPr sz="1100"/>
          </a:p>
        </p:txBody>
      </p:sp>
      <p:sp>
        <p:nvSpPr>
          <p:cNvPr id="413" name="Google Shape;413;p23"/>
          <p:cNvSpPr txBox="1"/>
          <p:nvPr/>
        </p:nvSpPr>
        <p:spPr>
          <a:xfrm>
            <a:off x="4079081" y="2512367"/>
            <a:ext cx="5715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$2.28</a:t>
            </a:r>
            <a:endParaRPr sz="1100"/>
          </a:p>
        </p:txBody>
      </p:sp>
      <p:sp>
        <p:nvSpPr>
          <p:cNvPr id="414" name="Google Shape;414;p23"/>
          <p:cNvSpPr txBox="1"/>
          <p:nvPr/>
        </p:nvSpPr>
        <p:spPr>
          <a:xfrm>
            <a:off x="721519" y="2919561"/>
            <a:ext cx="142875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Same Day Prediction</a:t>
            </a:r>
            <a:endParaRPr sz="1100"/>
          </a:p>
        </p:txBody>
      </p:sp>
      <p:sp>
        <p:nvSpPr>
          <p:cNvPr id="415" name="Google Shape;415;p23"/>
          <p:cNvSpPr txBox="1"/>
          <p:nvPr/>
        </p:nvSpPr>
        <p:spPr>
          <a:xfrm>
            <a:off x="4079081" y="2919561"/>
            <a:ext cx="5715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$2.28</a:t>
            </a:r>
            <a:endParaRPr sz="1100"/>
          </a:p>
        </p:txBody>
      </p:sp>
      <p:sp>
        <p:nvSpPr>
          <p:cNvPr id="416" name="Google Shape;416;p23"/>
          <p:cNvSpPr txBox="1"/>
          <p:nvPr/>
        </p:nvSpPr>
        <p:spPr>
          <a:xfrm>
            <a:off x="721519" y="3326755"/>
            <a:ext cx="1687711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/ Second Class</a:t>
            </a:r>
            <a:endParaRPr sz="1100"/>
          </a:p>
        </p:txBody>
      </p:sp>
      <p:sp>
        <p:nvSpPr>
          <p:cNvPr id="417" name="Google Shape;417;p23"/>
          <p:cNvSpPr txBox="1"/>
          <p:nvPr/>
        </p:nvSpPr>
        <p:spPr>
          <a:xfrm>
            <a:off x="4079081" y="3326755"/>
            <a:ext cx="5715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$2.28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7508081" y="502853"/>
            <a:ext cx="1235869" cy="214313"/>
          </a:xfrm>
          <a:prstGeom prst="roundRect">
            <a:avLst>
              <a:gd name="adj" fmla="val 20000"/>
            </a:avLst>
          </a:prstGeom>
          <a:solidFill>
            <a:srgbClr val="08161D"/>
          </a:solidFill>
          <a:ln w="9525" cap="flat" cmpd="sng">
            <a:solidFill>
              <a:srgbClr val="103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400050" y="1976586"/>
            <a:ext cx="4404456" cy="1814513"/>
          </a:xfrm>
          <a:prstGeom prst="roundRect">
            <a:avLst>
              <a:gd name="adj" fmla="val 5511"/>
            </a:avLst>
          </a:prstGeom>
          <a:solidFill>
            <a:srgbClr val="0C0C10"/>
          </a:solidFill>
          <a:ln w="9525" cap="flat" cmpd="sng">
            <a:solidFill>
              <a:srgbClr val="1E1E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5004531" y="2369492"/>
            <a:ext cx="3739418" cy="1028700"/>
          </a:xfrm>
          <a:prstGeom prst="roundRect">
            <a:avLst>
              <a:gd name="adj" fmla="val 9722"/>
            </a:avLst>
          </a:prstGeom>
          <a:solidFill>
            <a:srgbClr val="000000"/>
          </a:solidFill>
          <a:ln w="9525" cap="flat" cmpd="sng">
            <a:solidFill>
              <a:srgbClr val="222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5211700" y="2769542"/>
            <a:ext cx="3325081" cy="421481"/>
          </a:xfrm>
          <a:prstGeom prst="roundRect">
            <a:avLst>
              <a:gd name="adj" fmla="val 13559"/>
            </a:avLst>
          </a:prstGeom>
          <a:solidFill>
            <a:srgbClr val="0D0D12"/>
          </a:solidFill>
          <a:ln w="9525" cap="flat" cmpd="sng">
            <a:solidFill>
              <a:srgbClr val="1A1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219" y="2523082"/>
            <a:ext cx="5715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219" y="2758826"/>
            <a:ext cx="5715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219" y="2994570"/>
            <a:ext cx="5715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219" y="3230314"/>
            <a:ext cx="5715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219" y="3466057"/>
            <a:ext cx="5715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 txBox="1"/>
          <p:nvPr/>
        </p:nvSpPr>
        <p:spPr>
          <a:xfrm>
            <a:off x="7608094" y="545715"/>
            <a:ext cx="110728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app/streamlit_app.py</a:t>
            </a:r>
            <a:endParaRPr sz="1100"/>
          </a:p>
        </p:txBody>
      </p:sp>
      <p:sp>
        <p:nvSpPr>
          <p:cNvPr id="433" name="Google Shape;433;p24"/>
          <p:cNvSpPr txBox="1"/>
          <p:nvPr/>
        </p:nvSpPr>
        <p:spPr>
          <a:xfrm>
            <a:off x="400050" y="285750"/>
            <a:ext cx="476496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 &amp; UI SPOTLIGHT</a:t>
            </a:r>
            <a:endParaRPr sz="1100"/>
          </a:p>
        </p:txBody>
      </p:sp>
      <p:sp>
        <p:nvSpPr>
          <p:cNvPr id="434" name="Google Shape;434;p24"/>
          <p:cNvSpPr txBox="1"/>
          <p:nvPr/>
        </p:nvSpPr>
        <p:spPr>
          <a:xfrm>
            <a:off x="400050" y="442913"/>
            <a:ext cx="5003213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10. Interactive Streamlit Dashboard</a:t>
            </a:r>
            <a:endParaRPr sz="1100"/>
          </a:p>
        </p:txBody>
      </p:sp>
      <p:sp>
        <p:nvSpPr>
          <p:cNvPr id="435" name="Google Shape;435;p24"/>
          <p:cNvSpPr txBox="1"/>
          <p:nvPr/>
        </p:nvSpPr>
        <p:spPr>
          <a:xfrm>
            <a:off x="607219" y="2183755"/>
            <a:ext cx="5237031" cy="17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Core Application Modules</a:t>
            </a:r>
            <a:endParaRPr sz="1100"/>
          </a:p>
        </p:txBody>
      </p:sp>
      <p:sp>
        <p:nvSpPr>
          <p:cNvPr id="436" name="Google Shape;436;p24"/>
          <p:cNvSpPr txBox="1"/>
          <p:nvPr/>
        </p:nvSpPr>
        <p:spPr>
          <a:xfrm>
            <a:off x="5211700" y="2576661"/>
            <a:ext cx="3932299" cy="107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COMMAND</a:t>
            </a:r>
            <a:endParaRPr sz="1100"/>
          </a:p>
        </p:txBody>
      </p:sp>
      <p:sp>
        <p:nvSpPr>
          <p:cNvPr id="437" name="Google Shape;437;p24"/>
          <p:cNvSpPr txBox="1"/>
          <p:nvPr/>
        </p:nvSpPr>
        <p:spPr>
          <a:xfrm>
            <a:off x="5340287" y="2898130"/>
            <a:ext cx="3139343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streamlit run app\streamlit_app.py</a:t>
            </a:r>
            <a:endParaRPr sz="1100"/>
          </a:p>
        </p:txBody>
      </p:sp>
      <p:sp>
        <p:nvSpPr>
          <p:cNvPr id="438" name="Google Shape;438;p24"/>
          <p:cNvSpPr txBox="1"/>
          <p:nvPr/>
        </p:nvSpPr>
        <p:spPr>
          <a:xfrm>
            <a:off x="750094" y="2490936"/>
            <a:ext cx="2527101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Overview:</a:t>
            </a:r>
            <a:r>
              <a:rPr lang="en-GB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High-level KPI summaries.</a:t>
            </a:r>
            <a:endParaRPr sz="1100"/>
          </a:p>
        </p:txBody>
      </p:sp>
      <p:sp>
        <p:nvSpPr>
          <p:cNvPr id="439" name="Google Shape;439;p24"/>
          <p:cNvSpPr txBox="1"/>
          <p:nvPr/>
        </p:nvSpPr>
        <p:spPr>
          <a:xfrm>
            <a:off x="750094" y="2726680"/>
            <a:ext cx="2544961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Analysis:</a:t>
            </a:r>
            <a:r>
              <a:rPr lang="en-GB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Spatial density maps.</a:t>
            </a:r>
            <a:endParaRPr sz="1100"/>
          </a:p>
        </p:txBody>
      </p:sp>
      <p:sp>
        <p:nvSpPr>
          <p:cNvPr id="440" name="Google Shape;440;p24"/>
          <p:cNvSpPr txBox="1"/>
          <p:nvPr/>
        </p:nvSpPr>
        <p:spPr>
          <a:xfrm>
            <a:off x="750094" y="2962424"/>
            <a:ext cx="2437805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Shipping Analysis:</a:t>
            </a:r>
            <a:r>
              <a:rPr lang="en-GB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Carrier utilization.</a:t>
            </a:r>
            <a:endParaRPr sz="1100"/>
          </a:p>
        </p:txBody>
      </p:sp>
      <p:sp>
        <p:nvSpPr>
          <p:cNvPr id="441" name="Google Shape;441;p24"/>
          <p:cNvSpPr txBox="1"/>
          <p:nvPr/>
        </p:nvSpPr>
        <p:spPr>
          <a:xfrm>
            <a:off x="750094" y="3198167"/>
            <a:ext cx="2786063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Prediction:</a:t>
            </a:r>
            <a:r>
              <a:rPr lang="en-GB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Real-time ML inference.</a:t>
            </a:r>
            <a:endParaRPr sz="1100"/>
          </a:p>
        </p:txBody>
      </p:sp>
      <p:sp>
        <p:nvSpPr>
          <p:cNvPr id="442" name="Google Shape;442;p24"/>
          <p:cNvSpPr txBox="1"/>
          <p:nvPr/>
        </p:nvSpPr>
        <p:spPr>
          <a:xfrm>
            <a:off x="750094" y="3433911"/>
            <a:ext cx="2705695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 Performance:</a:t>
            </a:r>
            <a:r>
              <a:rPr lang="en-GB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Metric validation logs.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5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7665244" y="502853"/>
            <a:ext cx="1078706" cy="214313"/>
          </a:xfrm>
          <a:prstGeom prst="roundRect">
            <a:avLst>
              <a:gd name="adj" fmla="val 20000"/>
            </a:avLst>
          </a:prstGeom>
          <a:solidFill>
            <a:srgbClr val="121217"/>
          </a:solidFill>
          <a:ln w="9525" cap="flat" cmpd="sng">
            <a:solidFill>
              <a:srgbClr val="222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400050" y="2344489"/>
            <a:ext cx="2000250" cy="1078706"/>
          </a:xfrm>
          <a:prstGeom prst="roundRect">
            <a:avLst>
              <a:gd name="adj" fmla="val 9271"/>
            </a:avLst>
          </a:prstGeom>
          <a:solidFill>
            <a:srgbClr val="0C0C10"/>
          </a:solidFill>
          <a:ln w="28575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400050" y="3416051"/>
            <a:ext cx="200025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400050" y="2344489"/>
            <a:ext cx="2000250" cy="2143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400050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2393156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2514600" y="2344489"/>
            <a:ext cx="2000250" cy="1078706"/>
          </a:xfrm>
          <a:prstGeom prst="roundRect">
            <a:avLst>
              <a:gd name="adj" fmla="val 9271"/>
            </a:avLst>
          </a:prstGeom>
          <a:solidFill>
            <a:srgbClr val="0C0C10"/>
          </a:solidFill>
          <a:ln w="28575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2514600" y="3416051"/>
            <a:ext cx="200025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2514600" y="2344489"/>
            <a:ext cx="2000250" cy="21431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2514600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4507706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4629150" y="2344489"/>
            <a:ext cx="2000250" cy="1078706"/>
          </a:xfrm>
          <a:prstGeom prst="roundRect">
            <a:avLst>
              <a:gd name="adj" fmla="val 9271"/>
            </a:avLst>
          </a:prstGeom>
          <a:solidFill>
            <a:srgbClr val="0C0C10"/>
          </a:solidFill>
          <a:ln w="28575" cap="flat" cmpd="sng">
            <a:solidFill>
              <a:srgbClr val="C08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4629150" y="3416051"/>
            <a:ext cx="200025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4629150" y="2344489"/>
            <a:ext cx="2000250" cy="21431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4629150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6622256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6743700" y="2344489"/>
            <a:ext cx="2000250" cy="1078706"/>
          </a:xfrm>
          <a:prstGeom prst="roundRect">
            <a:avLst>
              <a:gd name="adj" fmla="val 9271"/>
            </a:avLst>
          </a:prstGeom>
          <a:solidFill>
            <a:srgbClr val="0C0C10"/>
          </a:solidFill>
          <a:ln w="2857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6743700" y="3416051"/>
            <a:ext cx="2000250" cy="7144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6743700" y="2344489"/>
            <a:ext cx="2000250" cy="2143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6743700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8736806" y="2344489"/>
            <a:ext cx="7144" cy="1078706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 txBox="1"/>
          <p:nvPr/>
        </p:nvSpPr>
        <p:spPr>
          <a:xfrm>
            <a:off x="7765256" y="545715"/>
            <a:ext cx="950119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Execution Phases</a:t>
            </a:r>
            <a:endParaRPr sz="1100"/>
          </a:p>
        </p:txBody>
      </p:sp>
      <p:sp>
        <p:nvSpPr>
          <p:cNvPr id="470" name="Google Shape;470;p25"/>
          <p:cNvSpPr txBox="1"/>
          <p:nvPr/>
        </p:nvSpPr>
        <p:spPr>
          <a:xfrm>
            <a:off x="400050" y="285750"/>
            <a:ext cx="5021414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MILESTONES</a:t>
            </a:r>
            <a:endParaRPr sz="1100"/>
          </a:p>
        </p:txBody>
      </p:sp>
      <p:sp>
        <p:nvSpPr>
          <p:cNvPr id="471" name="Google Shape;471;p25"/>
          <p:cNvSpPr txBox="1"/>
          <p:nvPr/>
        </p:nvSpPr>
        <p:spPr>
          <a:xfrm>
            <a:off x="400050" y="442913"/>
            <a:ext cx="5272485" cy="27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11. Project Timeline &amp; Implementation</a:t>
            </a:r>
            <a:endParaRPr sz="1100"/>
          </a:p>
        </p:txBody>
      </p:sp>
      <p:sp>
        <p:nvSpPr>
          <p:cNvPr id="472" name="Google Shape;472;p25"/>
          <p:cNvSpPr txBox="1"/>
          <p:nvPr/>
        </p:nvSpPr>
        <p:spPr>
          <a:xfrm>
            <a:off x="585788" y="2530226"/>
            <a:ext cx="1700213" cy="707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01</a:t>
            </a:r>
            <a:endParaRPr sz="1100"/>
          </a:p>
        </p:txBody>
      </p:sp>
      <p:sp>
        <p:nvSpPr>
          <p:cNvPr id="473" name="Google Shape;473;p25"/>
          <p:cNvSpPr txBox="1"/>
          <p:nvPr/>
        </p:nvSpPr>
        <p:spPr>
          <a:xfrm>
            <a:off x="2700338" y="2530226"/>
            <a:ext cx="1700213" cy="707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02</a:t>
            </a:r>
            <a:endParaRPr sz="1100"/>
          </a:p>
        </p:txBody>
      </p:sp>
      <p:sp>
        <p:nvSpPr>
          <p:cNvPr id="474" name="Google Shape;474;p25"/>
          <p:cNvSpPr txBox="1"/>
          <p:nvPr/>
        </p:nvSpPr>
        <p:spPr>
          <a:xfrm>
            <a:off x="4814888" y="2530226"/>
            <a:ext cx="1700213" cy="707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03</a:t>
            </a:r>
            <a:endParaRPr sz="1100"/>
          </a:p>
        </p:txBody>
      </p:sp>
      <p:sp>
        <p:nvSpPr>
          <p:cNvPr id="475" name="Google Shape;475;p25"/>
          <p:cNvSpPr txBox="1"/>
          <p:nvPr/>
        </p:nvSpPr>
        <p:spPr>
          <a:xfrm>
            <a:off x="6929438" y="2530226"/>
            <a:ext cx="1700213" cy="707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04</a:t>
            </a:r>
            <a:endParaRPr sz="1100"/>
          </a:p>
        </p:txBody>
      </p:sp>
      <p:sp>
        <p:nvSpPr>
          <p:cNvPr id="476" name="Google Shape;476;p25"/>
          <p:cNvSpPr txBox="1"/>
          <p:nvPr/>
        </p:nvSpPr>
        <p:spPr>
          <a:xfrm>
            <a:off x="592931" y="2758826"/>
            <a:ext cx="2119015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Ingestion</a:t>
            </a:r>
            <a:endParaRPr sz="1100"/>
          </a:p>
        </p:txBody>
      </p:sp>
      <p:sp>
        <p:nvSpPr>
          <p:cNvPr id="477" name="Google Shape;477;p25"/>
          <p:cNvSpPr txBox="1"/>
          <p:nvPr/>
        </p:nvSpPr>
        <p:spPr>
          <a:xfrm>
            <a:off x="592931" y="2973139"/>
            <a:ext cx="1685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Parsed dates, computed lead time metrics, validated 10K+ logs.</a:t>
            </a:r>
            <a:endParaRPr sz="1100"/>
          </a:p>
        </p:txBody>
      </p:sp>
      <p:sp>
        <p:nvSpPr>
          <p:cNvPr id="478" name="Google Shape;478;p25"/>
          <p:cNvSpPr txBox="1"/>
          <p:nvPr/>
        </p:nvSpPr>
        <p:spPr>
          <a:xfrm>
            <a:off x="2707481" y="2758826"/>
            <a:ext cx="2119015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EDA &amp; Route Analysis</a:t>
            </a:r>
            <a:endParaRPr sz="1100"/>
          </a:p>
        </p:txBody>
      </p:sp>
      <p:sp>
        <p:nvSpPr>
          <p:cNvPr id="479" name="Google Shape;479;p25"/>
          <p:cNvSpPr txBox="1"/>
          <p:nvPr/>
        </p:nvSpPr>
        <p:spPr>
          <a:xfrm>
            <a:off x="2707481" y="2973139"/>
            <a:ext cx="1685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volume density bottlenecks across key corridors.</a:t>
            </a:r>
            <a:endParaRPr sz="1100"/>
          </a:p>
        </p:txBody>
      </p:sp>
      <p:sp>
        <p:nvSpPr>
          <p:cNvPr id="480" name="Google Shape;480;p25"/>
          <p:cNvSpPr txBox="1"/>
          <p:nvPr/>
        </p:nvSpPr>
        <p:spPr>
          <a:xfrm>
            <a:off x="4822031" y="2758826"/>
            <a:ext cx="2119015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 Cost Model</a:t>
            </a:r>
            <a:endParaRPr sz="1100"/>
          </a:p>
        </p:txBody>
      </p:sp>
      <p:sp>
        <p:nvSpPr>
          <p:cNvPr id="481" name="Google Shape;481;p25"/>
          <p:cNvSpPr txBox="1"/>
          <p:nvPr/>
        </p:nvSpPr>
        <p:spPr>
          <a:xfrm>
            <a:off x="4822031" y="2973139"/>
            <a:ext cx="1685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Trained RF regressor engine achieving 0.992 5-fold R².</a:t>
            </a:r>
            <a:endParaRPr sz="1100"/>
          </a:p>
        </p:txBody>
      </p:sp>
      <p:sp>
        <p:nvSpPr>
          <p:cNvPr id="482" name="Google Shape;482;p25"/>
          <p:cNvSpPr txBox="1"/>
          <p:nvPr/>
        </p:nvSpPr>
        <p:spPr>
          <a:xfrm>
            <a:off x="6936581" y="2758826"/>
            <a:ext cx="2119015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 Deploy</a:t>
            </a:r>
            <a:endParaRPr sz="1100"/>
          </a:p>
        </p:txBody>
      </p:sp>
      <p:sp>
        <p:nvSpPr>
          <p:cNvPr id="483" name="Google Shape;483;p25"/>
          <p:cNvSpPr txBox="1"/>
          <p:nvPr/>
        </p:nvSpPr>
        <p:spPr>
          <a:xfrm>
            <a:off x="6936581" y="2973139"/>
            <a:ext cx="1685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Deployed 5-module analytics prototype for decision support.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2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0" y="78421"/>
            <a:ext cx="9144000" cy="4986657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6"/>
          <p:cNvSpPr/>
          <p:nvPr/>
        </p:nvSpPr>
        <p:spPr>
          <a:xfrm>
            <a:off x="0" y="5136356"/>
            <a:ext cx="9144000" cy="7144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2675334" y="3111103"/>
            <a:ext cx="1778794" cy="321469"/>
          </a:xfrm>
          <a:prstGeom prst="roundRect">
            <a:avLst>
              <a:gd name="adj" fmla="val 50000"/>
            </a:avLst>
          </a:prstGeom>
          <a:solidFill>
            <a:srgbClr val="0B1B27"/>
          </a:solidFill>
          <a:ln w="9525" cap="flat" cmpd="sng">
            <a:solidFill>
              <a:srgbClr val="1336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4568428" y="3111103"/>
            <a:ext cx="1900238" cy="321469"/>
          </a:xfrm>
          <a:prstGeom prst="roundRect">
            <a:avLst>
              <a:gd name="adj" fmla="val 50000"/>
            </a:avLst>
          </a:prstGeom>
          <a:solidFill>
            <a:srgbClr val="0B1B27"/>
          </a:solidFill>
          <a:ln w="9525" cap="flat" cmpd="sng">
            <a:solidFill>
              <a:srgbClr val="1336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2" name="Google Shape;49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3928" y="3225403"/>
            <a:ext cx="92869" cy="107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7022" y="3225403"/>
            <a:ext cx="92869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6"/>
          <p:cNvSpPr txBox="1"/>
          <p:nvPr/>
        </p:nvSpPr>
        <p:spPr>
          <a:xfrm>
            <a:off x="3754389" y="1703784"/>
            <a:ext cx="1635109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COMPLETION</a:t>
            </a:r>
            <a:endParaRPr sz="1100"/>
          </a:p>
        </p:txBody>
      </p:sp>
      <p:sp>
        <p:nvSpPr>
          <p:cNvPr id="495" name="Google Shape;495;p26"/>
          <p:cNvSpPr txBox="1"/>
          <p:nvPr/>
        </p:nvSpPr>
        <p:spPr>
          <a:xfrm>
            <a:off x="1403586" y="1918097"/>
            <a:ext cx="633682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12. Summary &amp; Final Deliverables</a:t>
            </a:r>
            <a:endParaRPr sz="1100"/>
          </a:p>
        </p:txBody>
      </p:sp>
      <p:sp>
        <p:nvSpPr>
          <p:cNvPr id="496" name="Google Shape;496;p26"/>
          <p:cNvSpPr txBox="1"/>
          <p:nvPr/>
        </p:nvSpPr>
        <p:spPr>
          <a:xfrm>
            <a:off x="1446609" y="2446734"/>
            <a:ext cx="6250781" cy="40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Delivered an end-to-end shipping route optimization engine and Streamlit analytics prototype.</a:t>
            </a:r>
            <a:endParaRPr sz="1100"/>
          </a:p>
        </p:txBody>
      </p:sp>
      <p:sp>
        <p:nvSpPr>
          <p:cNvPr id="497" name="Google Shape;497;p26"/>
          <p:cNvSpPr txBox="1"/>
          <p:nvPr/>
        </p:nvSpPr>
        <p:spPr>
          <a:xfrm>
            <a:off x="2624435" y="3196828"/>
            <a:ext cx="1880592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Saved RF Model Pipeline</a:t>
            </a:r>
            <a:endParaRPr sz="1100"/>
          </a:p>
        </p:txBody>
      </p:sp>
      <p:sp>
        <p:nvSpPr>
          <p:cNvPr id="498" name="Google Shape;498;p26"/>
          <p:cNvSpPr txBox="1"/>
          <p:nvPr/>
        </p:nvSpPr>
        <p:spPr>
          <a:xfrm>
            <a:off x="4502348" y="3196828"/>
            <a:ext cx="2032396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Interactive Dashboard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776</Words>
  <Application>Microsoft Office PowerPoint</Application>
  <PresentationFormat>On-screen Show (16:9)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Trebuchet MS</vt:lpstr>
      <vt:lpstr>Plus Jakarta Sans</vt:lpstr>
      <vt:lpstr>JetBrains Mono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NIRBHAY BARANWAL</dc:creator>
  <cp:lastModifiedBy>Nirbhay Baranwal</cp:lastModifiedBy>
  <cp:revision>1</cp:revision>
  <dcterms:modified xsi:type="dcterms:W3CDTF">2026-09-27T13:01:57Z</dcterms:modified>
</cp:coreProperties>
</file>